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E0BB7C-6555-4A89-B90C-E4F91AC2136E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9B5CD"/>
                </a:solidFill>
              </a:defRPr>
            </a:pPr>
            <a:r>
              <a:rPr sz="975" b="1">
                <a:solidFill>
                  <a:srgbClr val="A9B5CD"/>
                </a:solidFill>
              </a:rPr>
              <a:t>AI AGENT CHALLENGE · WEEK 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F9B915-111A-499E-880F-24EAA0D296C4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9B5CD"/>
                </a:solidFill>
              </a:defRPr>
            </a:pPr>
            <a:r>
              <a:rPr sz="975" b="1">
                <a:solidFill>
                  <a:srgbClr val="A9B5CD"/>
                </a:solidFill>
              </a:rPr>
              <a:t>01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3CDECDB-DCD9-4683-A415-827B6AC66DE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173B2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EBE286-CAAA-47F7-9AB4-F91DDE90CD1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3주차 발표 · LIVE DEMO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509EA4-DA0E-4D1D-BEEA-A0EE7C241FD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590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지금리뷰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5FF108C-FB0F-4E34-96B8-695F3E2531DF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E8ECF5"/>
                </a:solidFill>
              </a:defRPr>
            </a:pPr>
            <a:r>
              <a:rPr sz="2400" b="1">
                <a:solidFill>
                  <a:srgbClr val="E8ECF5"/>
                </a:solidFill>
              </a:rPr>
              <a:t>지도 검색에서 AI 리뷰 분석까지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8CFF8B-2285-418E-BF5A-D72F7C3A0779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A9B5CD"/>
                </a:solidFill>
              </a:defRPr>
            </a:pPr>
            <a:r>
              <a:rPr sz="1425" b="0">
                <a:solidFill>
                  <a:srgbClr val="A9B5CD"/>
                </a:solidFill>
              </a:rPr>
              <a:t>처음의 문제 정의가 실제로 동작하는 모바일 MVP가 되기까지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946A136-1C78-44F7-9015-072FC481955B}"/>
              </a:ext>
            </a:extLst>
          </p:cNvPr>
          <p:cNvSpPr>
            <a:spLocks noGrp="1"/>
          </p:cNvSpPr>
          <p:nvPr/>
        </p:nvSpPr>
        <p:spPr>
          <a:xfrm>
            <a:off x="8096250" y="1200150"/>
            <a:ext cx="3067050" cy="4286250"/>
          </a:xfrm>
          <a:prstGeom prst="roundRect">
            <a:avLst>
              <a:gd name="adj" fmla="val 7453"/>
            </a:avLst>
          </a:prstGeom>
          <a:solidFill>
            <a:srgbClr val="18233B"/>
          </a:solidFill>
          <a:ln w="9525">
            <a:solidFill>
              <a:srgbClr val="2C3A5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87FC2BE-5FA6-4E96-A7C9-CFC2ACECADEF}"/>
              </a:ext>
            </a:extLst>
          </p:cNvPr>
          <p:cNvSpPr>
            <a:spLocks noGrp="1"/>
          </p:cNvSpPr>
          <p:nvPr/>
        </p:nvSpPr>
        <p:spPr>
          <a:xfrm>
            <a:off x="8439150" y="1609725"/>
            <a:ext cx="2381250" cy="552450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F4FBF0-E096-4C40-BEFB-79D62FC85A36}"/>
              </a:ext>
            </a:extLst>
          </p:cNvPr>
          <p:cNvSpPr>
            <a:spLocks noGrp="1"/>
          </p:cNvSpPr>
          <p:nvPr/>
        </p:nvSpPr>
        <p:spPr>
          <a:xfrm>
            <a:off x="8648700" y="16954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7AFF"/>
                </a:solidFill>
              </a:defRPr>
            </a:pPr>
            <a:r>
              <a:rPr sz="1800" b="1">
                <a:solidFill>
                  <a:srgbClr val="007AFF"/>
                </a:solidFill>
              </a:rPr>
              <a:t>지금리뷰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AAF81DE-E12C-497A-8362-8C7D6FEDF756}"/>
              </a:ext>
            </a:extLst>
          </p:cNvPr>
          <p:cNvSpPr>
            <a:spLocks noGrp="1"/>
          </p:cNvSpPr>
          <p:nvPr/>
        </p:nvSpPr>
        <p:spPr>
          <a:xfrm>
            <a:off x="8439150" y="2381250"/>
            <a:ext cx="2381250" cy="685800"/>
          </a:xfrm>
          <a:prstGeom prst="roundRect">
            <a:avLst>
              <a:gd name="adj" fmla="val 22222"/>
            </a:avLst>
          </a:prstGeom>
          <a:solidFill>
            <a:srgbClr val="243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3F5073-AA90-444C-A975-CBF8298D1054}"/>
              </a:ext>
            </a:extLst>
          </p:cNvPr>
          <p:cNvSpPr>
            <a:spLocks noGrp="1"/>
          </p:cNvSpPr>
          <p:nvPr/>
        </p:nvSpPr>
        <p:spPr>
          <a:xfrm>
            <a:off x="8686800" y="24574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장소 검색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70318E-DC8E-44D8-85B0-6A1F909BFDBA}"/>
              </a:ext>
            </a:extLst>
          </p:cNvPr>
          <p:cNvSpPr>
            <a:spLocks noGrp="1"/>
          </p:cNvSpPr>
          <p:nvPr/>
        </p:nvSpPr>
        <p:spPr>
          <a:xfrm>
            <a:off x="8686800" y="272415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9B5CD"/>
                </a:solidFill>
              </a:defRPr>
            </a:pPr>
            <a:r>
              <a:rPr sz="1050" b="0">
                <a:solidFill>
                  <a:srgbClr val="A9B5CD"/>
                </a:solidFill>
              </a:rPr>
              <a:t>현재 지도 주변부터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21CC639-23F8-41D7-8C72-D96336B4531B}"/>
              </a:ext>
            </a:extLst>
          </p:cNvPr>
          <p:cNvSpPr>
            <a:spLocks noGrp="1"/>
          </p:cNvSpPr>
          <p:nvPr/>
        </p:nvSpPr>
        <p:spPr>
          <a:xfrm>
            <a:off x="8439150" y="3257550"/>
            <a:ext cx="2381250" cy="685800"/>
          </a:xfrm>
          <a:prstGeom prst="roundRect">
            <a:avLst>
              <a:gd name="adj" fmla="val 22222"/>
            </a:avLst>
          </a:prstGeom>
          <a:solidFill>
            <a:srgbClr val="24314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792DD0-1E60-45C5-94E0-EC747EBEEF92}"/>
              </a:ext>
            </a:extLst>
          </p:cNvPr>
          <p:cNvSpPr>
            <a:spLocks noGrp="1"/>
          </p:cNvSpPr>
          <p:nvPr/>
        </p:nvSpPr>
        <p:spPr>
          <a:xfrm>
            <a:off x="8686800" y="33337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리뷰 작성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961CF7-6C84-4DD4-8190-8DF7549AECBD}"/>
              </a:ext>
            </a:extLst>
          </p:cNvPr>
          <p:cNvSpPr>
            <a:spLocks noGrp="1"/>
          </p:cNvSpPr>
          <p:nvPr/>
        </p:nvSpPr>
        <p:spPr>
          <a:xfrm>
            <a:off x="8686800" y="360045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A9B5CD"/>
                </a:solidFill>
              </a:defRPr>
            </a:pPr>
            <a:r>
              <a:rPr sz="1050" b="0">
                <a:solidFill>
                  <a:srgbClr val="A9B5CD"/>
                </a:solidFill>
              </a:rPr>
              <a:t>로그인 후 작성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7FB080E-68F5-46CD-B814-D99A1B9B3785}"/>
              </a:ext>
            </a:extLst>
          </p:cNvPr>
          <p:cNvSpPr>
            <a:spLocks noGrp="1"/>
          </p:cNvSpPr>
          <p:nvPr/>
        </p:nvSpPr>
        <p:spPr>
          <a:xfrm>
            <a:off x="8439150" y="4133850"/>
            <a:ext cx="2381250" cy="952500"/>
          </a:xfrm>
          <a:prstGeom prst="roundRect">
            <a:avLst>
              <a:gd name="adj" fmla="val 16000"/>
            </a:avLst>
          </a:prstGeom>
          <a:solidFill>
            <a:srgbClr val="153C2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CBC7A2-7545-4A3A-BA8D-765B351B81F9}"/>
              </a:ext>
            </a:extLst>
          </p:cNvPr>
          <p:cNvSpPr>
            <a:spLocks noGrp="1"/>
          </p:cNvSpPr>
          <p:nvPr/>
        </p:nvSpPr>
        <p:spPr>
          <a:xfrm>
            <a:off x="8686800" y="42100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3C75A"/>
                </a:solidFill>
              </a:defRPr>
            </a:pPr>
            <a:r>
              <a:rPr sz="1350" b="1">
                <a:solidFill>
                  <a:srgbClr val="03C75A"/>
                </a:solidFill>
              </a:rPr>
              <a:t>AI 분석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5267C8-AA50-4897-9290-E1D5689BA96A}"/>
              </a:ext>
            </a:extLst>
          </p:cNvPr>
          <p:cNvSpPr>
            <a:spLocks noGrp="1"/>
          </p:cNvSpPr>
          <p:nvPr/>
        </p:nvSpPr>
        <p:spPr>
          <a:xfrm>
            <a:off x="8686800" y="45148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DDF8E7"/>
                </a:solidFill>
              </a:defRPr>
            </a:pPr>
            <a:r>
              <a:rPr sz="1125" b="1">
                <a:solidFill>
                  <a:srgbClr val="DDF8E7"/>
                </a:solidFill>
              </a:rPr>
              <a:t>5단계 감정 분류</a:t>
            </a:r>
          </a:p>
          <a:p>
            <a:pPr algn="l">
              <a:defRPr sz="1125" b="1">
                <a:solidFill>
                  <a:srgbClr val="DDF8E7"/>
                </a:solidFill>
              </a:defRPr>
            </a:pPr>
            <a:r>
              <a:rPr sz="1125" b="1">
                <a:solidFill>
                  <a:srgbClr val="DDF8E7"/>
                </a:solidFill>
              </a:rPr>
              <a:t>막대그래프 반영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37670E-8843-4FA4-A497-D3506770EB01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F8CA7"/>
                </a:solidFill>
              </a:defRPr>
            </a:pPr>
            <a:r>
              <a:rPr sz="1050" b="1">
                <a:solidFill>
                  <a:srgbClr val="7F8CA7"/>
                </a:solidFill>
              </a:rPr>
              <a:t>2026. 07. 24</a:t>
            </a:r>
          </a:p>
        </p:txBody>
      </p:sp>
    </p:spTree>
    <p:extLst>
      <p:ext uri="{BB962C8B-B14F-4D97-AF65-F5344CB8AC3E}">
        <p14:creationId xmlns:p14="http://schemas.microsoft.com/office/powerpoint/2010/main" val="15307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355B129-0B7F-4F88-AB27-50A99DCB5072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PROBLEM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70EED7-1603-49DC-898C-A4C90B820170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3C49F2-73B5-4FF6-B482-CC56379A442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1C1E"/>
                </a:solidFill>
              </a:defRPr>
            </a:pPr>
            <a:r>
              <a:rPr sz="2850" b="1">
                <a:solidFill>
                  <a:srgbClr val="1C1C1E"/>
                </a:solidFill>
              </a:rPr>
              <a:t>리뷰는 많지만, 믿고 선택하기는 어렵다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72B16AD-37F3-4053-AC37-4FC4980CE87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지금리뷰는 ‘리뷰의 양’보다 방문 근거와 해석 가능성에 집중했다.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90C4973-B716-4037-96D5-CF420EB10A61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5048250" cy="33909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D7FC835-65AF-42F9-9C82-E47CB7A981BF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76200" cy="3390900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1D829A-39F4-463C-B6A4-DBD265E46963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FFF0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A61638-9565-485F-8BBF-41BF1EFF60D4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453A"/>
                </a:solidFill>
              </a:defRPr>
            </a:pPr>
            <a:r>
              <a:rPr sz="1050" b="1">
                <a:solidFill>
                  <a:srgbClr val="FF453A"/>
                </a:solidFill>
              </a:rPr>
              <a:t>기존 경험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529780-F682-471A-B6A6-81E6B594B1E6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419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C1C1E"/>
                </a:solidFill>
              </a:defRPr>
            </a:pPr>
            <a:r>
              <a:rPr sz="2100" b="1">
                <a:solidFill>
                  <a:srgbClr val="1C1C1E"/>
                </a:solidFill>
              </a:rPr>
              <a:t>리뷰 신뢰의 기준이 모호하다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176925C-A8BC-46CF-A9F7-F7CA7D5A8BE1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3C30E5-F9F8-4CEA-B3AE-7AC6E49A2A41}"/>
              </a:ext>
            </a:extLst>
          </p:cNvPr>
          <p:cNvSpPr>
            <a:spLocks noGrp="1"/>
          </p:cNvSpPr>
          <p:nvPr/>
        </p:nvSpPr>
        <p:spPr>
          <a:xfrm>
            <a:off x="1085850" y="35814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실제 방문 여부를 바로 판단하기 어렵다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4E65D24-085A-435C-BC77-FECE64D65F7E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BB42A5-1CF1-4998-B770-E5B022868060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텍스트가 많아 전체 분위기를 빠르게 파악하기 어렵다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F92D999-7739-44EC-B969-99379BBF288B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7650D3-E5E1-4E38-9BA0-E5F4ABD8C484}"/>
              </a:ext>
            </a:extLst>
          </p:cNvPr>
          <p:cNvSpPr>
            <a:spLocks noGrp="1"/>
          </p:cNvSpPr>
          <p:nvPr/>
        </p:nvSpPr>
        <p:spPr>
          <a:xfrm>
            <a:off x="1085850" y="45339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처음 가는 동네일수록 선택 비용이 커진다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370B698-2064-4051-9BE6-8C210297B8E6}"/>
              </a:ext>
            </a:extLst>
          </p:cNvPr>
          <p:cNvSpPr>
            <a:spLocks noGrp="1"/>
          </p:cNvSpPr>
          <p:nvPr/>
        </p:nvSpPr>
        <p:spPr>
          <a:xfrm>
            <a:off x="5962650" y="2076450"/>
            <a:ext cx="5619750" cy="33909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A3887FA-626F-4AB9-A099-1038287AA51E}"/>
              </a:ext>
            </a:extLst>
          </p:cNvPr>
          <p:cNvSpPr>
            <a:spLocks noGrp="1"/>
          </p:cNvSpPr>
          <p:nvPr/>
        </p:nvSpPr>
        <p:spPr>
          <a:xfrm>
            <a:off x="5962650" y="2076450"/>
            <a:ext cx="76200" cy="33909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B10D66C-99EA-48D9-8E1D-949F54EEAD8E}"/>
              </a:ext>
            </a:extLst>
          </p:cNvPr>
          <p:cNvSpPr>
            <a:spLocks noGrp="1"/>
          </p:cNvSpPr>
          <p:nvPr/>
        </p:nvSpPr>
        <p:spPr>
          <a:xfrm>
            <a:off x="6248400" y="2343150"/>
            <a:ext cx="1524000" cy="32385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85F6007-F79D-4E2F-9424-524153448619}"/>
              </a:ext>
            </a:extLst>
          </p:cNvPr>
          <p:cNvSpPr>
            <a:spLocks noGrp="1"/>
          </p:cNvSpPr>
          <p:nvPr/>
        </p:nvSpPr>
        <p:spPr>
          <a:xfrm>
            <a:off x="6248400" y="23431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지금리뷰의 기준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F64BDC-FA42-48B9-859E-FFF14495ED3C}"/>
              </a:ext>
            </a:extLst>
          </p:cNvPr>
          <p:cNvSpPr>
            <a:spLocks noGrp="1"/>
          </p:cNvSpPr>
          <p:nvPr/>
        </p:nvSpPr>
        <p:spPr>
          <a:xfrm>
            <a:off x="6248400" y="287655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C1C1E"/>
                </a:solidFill>
              </a:defRPr>
            </a:pPr>
            <a:r>
              <a:rPr sz="2100" b="1">
                <a:solidFill>
                  <a:srgbClr val="1C1C1E"/>
                </a:solidFill>
              </a:rPr>
              <a:t>방문 근거 + 한눈에 보는 해석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91291BE-28EC-4A2F-A19A-8E2278103FC2}"/>
              </a:ext>
            </a:extLst>
          </p:cNvPr>
          <p:cNvSpPr>
            <a:spLocks noGrp="1"/>
          </p:cNvSpPr>
          <p:nvPr/>
        </p:nvSpPr>
        <p:spPr>
          <a:xfrm>
            <a:off x="6248400" y="367665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E23FDF-4E1B-44D7-A22D-6C00102C0F36}"/>
              </a:ext>
            </a:extLst>
          </p:cNvPr>
          <p:cNvSpPr>
            <a:spLocks noGrp="1"/>
          </p:cNvSpPr>
          <p:nvPr/>
        </p:nvSpPr>
        <p:spPr>
          <a:xfrm>
            <a:off x="6438900" y="358140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영수증 인증 리뷰만 집계하는 구조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3019026-4AE2-456E-9FA0-ECCD66CDFCAD}"/>
              </a:ext>
            </a:extLst>
          </p:cNvPr>
          <p:cNvSpPr>
            <a:spLocks noGrp="1"/>
          </p:cNvSpPr>
          <p:nvPr/>
        </p:nvSpPr>
        <p:spPr>
          <a:xfrm>
            <a:off x="6248400" y="41529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7F165BE-74E3-427B-8275-148F412B161B}"/>
              </a:ext>
            </a:extLst>
          </p:cNvPr>
          <p:cNvSpPr>
            <a:spLocks noGrp="1"/>
          </p:cNvSpPr>
          <p:nvPr/>
        </p:nvSpPr>
        <p:spPr>
          <a:xfrm>
            <a:off x="6438900" y="40576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리뷰 한 건을 5단계 감정으로 분류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CF6F86C-260B-4736-8DAA-2FA946CADBA6}"/>
              </a:ext>
            </a:extLst>
          </p:cNvPr>
          <p:cNvSpPr>
            <a:spLocks noGrp="1"/>
          </p:cNvSpPr>
          <p:nvPr/>
        </p:nvSpPr>
        <p:spPr>
          <a:xfrm>
            <a:off x="6248400" y="462915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943B3F-E751-4A7B-9C73-861CED3948DC}"/>
              </a:ext>
            </a:extLst>
          </p:cNvPr>
          <p:cNvSpPr>
            <a:spLocks noGrp="1"/>
          </p:cNvSpPr>
          <p:nvPr/>
        </p:nvSpPr>
        <p:spPr>
          <a:xfrm>
            <a:off x="6438900" y="453390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지도 탐색부터 업체 상세·리뷰까지 한 흐름</a:t>
            </a:r>
          </a:p>
        </p:txBody>
      </p:sp>
    </p:spTree>
    <p:extLst>
      <p:ext uri="{BB962C8B-B14F-4D97-AF65-F5344CB8AC3E}">
        <p14:creationId xmlns:p14="http://schemas.microsoft.com/office/powerpoint/2010/main" val="66232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37235C-A257-49C4-B50B-482AB220E6CE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PRODUCT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3250A9-EA65-44CD-8321-709FE504B87A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D2B540-E48A-49D7-A633-8CD38ECDAB5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C1C1E"/>
                </a:solidFill>
              </a:defRPr>
            </a:pPr>
            <a:r>
              <a:rPr sz="2550" b="1">
                <a:solidFill>
                  <a:srgbClr val="1C1C1E"/>
                </a:solidFill>
              </a:rPr>
              <a:t>검색 → 업체 → 리뷰 → AI 요약을 한 흐름으로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68E00-F3E1-4509-A287-25003FC0064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사용자가 장소를 찾고 판단하는 순간에 필요한 정보만 이어 붙였다.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15729D7-B235-4BD0-AA23-6834EFDE9E94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2400300" cy="26098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811A3A4-6991-48D8-BF0B-DA1D16CA1F2D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76200" cy="26098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6C3D75-0901-4195-BFA6-B2DFCE1BD832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7AFF"/>
                </a:solidFill>
              </a:defRPr>
            </a:pPr>
            <a:r>
              <a:rPr sz="1425" b="1">
                <a:solidFill>
                  <a:srgbClr val="007AFF"/>
                </a:solidFill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99481AE-3695-4B3E-9D93-5B52861B9263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C1C1E"/>
                </a:solidFill>
              </a:defRPr>
            </a:pPr>
            <a:r>
              <a:rPr sz="1800" b="1">
                <a:solidFill>
                  <a:srgbClr val="1C1C1E"/>
                </a:solidFill>
              </a:rPr>
              <a:t>현재 지도에서 검색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55B342-1908-4264-AE86-A7E6352C0541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현 위치·지도 영역을 우선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D8FF4D-F900-4417-A2E1-8C0A77EFA5DF}"/>
              </a:ext>
            </a:extLst>
          </p:cNvPr>
          <p:cNvSpPr>
            <a:spLocks noGrp="1"/>
          </p:cNvSpPr>
          <p:nvPr/>
        </p:nvSpPr>
        <p:spPr>
          <a:xfrm>
            <a:off x="3009900" y="3524250"/>
            <a:ext cx="26670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85F11D83-244A-46AF-BEAD-FA4E67F6B18D}"/>
              </a:ext>
            </a:extLst>
          </p:cNvPr>
          <p:cNvSpPr>
            <a:spLocks noGrp="1"/>
          </p:cNvSpPr>
          <p:nvPr/>
        </p:nvSpPr>
        <p:spPr>
          <a:xfrm>
            <a:off x="3248025" y="345757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717BE2-AFA7-46F4-BDC3-E5D48A73E5F5}"/>
              </a:ext>
            </a:extLst>
          </p:cNvPr>
          <p:cNvSpPr>
            <a:spLocks noGrp="1"/>
          </p:cNvSpPr>
          <p:nvPr/>
        </p:nvSpPr>
        <p:spPr>
          <a:xfrm>
            <a:off x="3390900" y="2324100"/>
            <a:ext cx="2400300" cy="26098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47810B4-BE34-40AD-A067-CAA79C9A1160}"/>
              </a:ext>
            </a:extLst>
          </p:cNvPr>
          <p:cNvSpPr>
            <a:spLocks noGrp="1"/>
          </p:cNvSpPr>
          <p:nvPr/>
        </p:nvSpPr>
        <p:spPr>
          <a:xfrm>
            <a:off x="3390900" y="2324100"/>
            <a:ext cx="76200" cy="26098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E657B5-9A66-4D6C-AAD0-408127F1B123}"/>
              </a:ext>
            </a:extLst>
          </p:cNvPr>
          <p:cNvSpPr>
            <a:spLocks noGrp="1"/>
          </p:cNvSpPr>
          <p:nvPr/>
        </p:nvSpPr>
        <p:spPr>
          <a:xfrm>
            <a:off x="3619500" y="25336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7AFF"/>
                </a:solidFill>
              </a:defRPr>
            </a:pPr>
            <a:r>
              <a:rPr sz="1425" b="1">
                <a:solidFill>
                  <a:srgbClr val="007AFF"/>
                </a:solidFill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26C4FC-8403-4C66-A5BD-2BFE78BD586D}"/>
              </a:ext>
            </a:extLst>
          </p:cNvPr>
          <p:cNvSpPr>
            <a:spLocks noGrp="1"/>
          </p:cNvSpPr>
          <p:nvPr/>
        </p:nvSpPr>
        <p:spPr>
          <a:xfrm>
            <a:off x="3619500" y="31051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C1C1E"/>
                </a:solidFill>
              </a:defRPr>
            </a:pPr>
            <a:r>
              <a:rPr sz="1800" b="1">
                <a:solidFill>
                  <a:srgbClr val="1C1C1E"/>
                </a:solidFill>
              </a:rPr>
              <a:t>업체 상세 확인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5D7C06-B2D1-4899-9059-9AF12A0BD091}"/>
              </a:ext>
            </a:extLst>
          </p:cNvPr>
          <p:cNvSpPr>
            <a:spLocks noGrp="1"/>
          </p:cNvSpPr>
          <p:nvPr/>
        </p:nvSpPr>
        <p:spPr>
          <a:xfrm>
            <a:off x="3619500" y="3905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정보와 리뷰를 한 화면에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385CCF-078F-4F49-A468-3DFF2C7FBEEA}"/>
              </a:ext>
            </a:extLst>
          </p:cNvPr>
          <p:cNvSpPr>
            <a:spLocks noGrp="1"/>
          </p:cNvSpPr>
          <p:nvPr/>
        </p:nvSpPr>
        <p:spPr>
          <a:xfrm>
            <a:off x="5791200" y="3524250"/>
            <a:ext cx="26670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A4FADE0B-0F27-4027-B25C-D751A18385B5}"/>
              </a:ext>
            </a:extLst>
          </p:cNvPr>
          <p:cNvSpPr>
            <a:spLocks noGrp="1"/>
          </p:cNvSpPr>
          <p:nvPr/>
        </p:nvSpPr>
        <p:spPr>
          <a:xfrm>
            <a:off x="6029325" y="345757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E02599F-976A-45B9-8E89-DBC426CAABD4}"/>
              </a:ext>
            </a:extLst>
          </p:cNvPr>
          <p:cNvSpPr>
            <a:spLocks noGrp="1"/>
          </p:cNvSpPr>
          <p:nvPr/>
        </p:nvSpPr>
        <p:spPr>
          <a:xfrm>
            <a:off x="6172200" y="2324100"/>
            <a:ext cx="2400300" cy="26098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6BF171B-1A70-4CDE-A0BA-E591CA18F8BA}"/>
              </a:ext>
            </a:extLst>
          </p:cNvPr>
          <p:cNvSpPr>
            <a:spLocks noGrp="1"/>
          </p:cNvSpPr>
          <p:nvPr/>
        </p:nvSpPr>
        <p:spPr>
          <a:xfrm>
            <a:off x="6172200" y="2324100"/>
            <a:ext cx="76200" cy="26098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7E83E6-5A08-4E09-9C3B-6B2056B882B6}"/>
              </a:ext>
            </a:extLst>
          </p:cNvPr>
          <p:cNvSpPr>
            <a:spLocks noGrp="1"/>
          </p:cNvSpPr>
          <p:nvPr/>
        </p:nvSpPr>
        <p:spPr>
          <a:xfrm>
            <a:off x="6400800" y="25336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07AFF"/>
                </a:solidFill>
              </a:defRPr>
            </a:pPr>
            <a:r>
              <a:rPr sz="1425" b="1">
                <a:solidFill>
                  <a:srgbClr val="007AFF"/>
                </a:solidFill>
              </a:rPr>
              <a:t>03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D351EF5-650C-4575-8931-50EA5455DF2C}"/>
              </a:ext>
            </a:extLst>
          </p:cNvPr>
          <p:cNvSpPr>
            <a:spLocks noGrp="1"/>
          </p:cNvSpPr>
          <p:nvPr/>
        </p:nvSpPr>
        <p:spPr>
          <a:xfrm>
            <a:off x="6400800" y="31051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C1C1E"/>
                </a:solidFill>
              </a:defRPr>
            </a:pPr>
            <a:r>
              <a:rPr sz="1800" b="1">
                <a:solidFill>
                  <a:srgbClr val="1C1C1E"/>
                </a:solidFill>
              </a:rPr>
              <a:t>로그인 후 리뷰 작성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F670213-C927-433C-A08A-16C1DCC3935C}"/>
              </a:ext>
            </a:extLst>
          </p:cNvPr>
          <p:cNvSpPr>
            <a:spLocks noGrp="1"/>
          </p:cNvSpPr>
          <p:nvPr/>
        </p:nvSpPr>
        <p:spPr>
          <a:xfrm>
            <a:off x="6400800" y="3905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비로그인은 검색 가능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FB6B46F-ED35-4E00-A928-9B4A1B284C74}"/>
              </a:ext>
            </a:extLst>
          </p:cNvPr>
          <p:cNvSpPr>
            <a:spLocks noGrp="1"/>
          </p:cNvSpPr>
          <p:nvPr/>
        </p:nvSpPr>
        <p:spPr>
          <a:xfrm>
            <a:off x="8572500" y="3524250"/>
            <a:ext cx="26670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E89FA1F8-26F3-4DAC-AE2A-F831060F0983}"/>
              </a:ext>
            </a:extLst>
          </p:cNvPr>
          <p:cNvSpPr>
            <a:spLocks noGrp="1"/>
          </p:cNvSpPr>
          <p:nvPr/>
        </p:nvSpPr>
        <p:spPr>
          <a:xfrm>
            <a:off x="8810625" y="345757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10C41DD-15A6-4702-90A0-B393A4E6066A}"/>
              </a:ext>
            </a:extLst>
          </p:cNvPr>
          <p:cNvSpPr>
            <a:spLocks noGrp="1"/>
          </p:cNvSpPr>
          <p:nvPr/>
        </p:nvSpPr>
        <p:spPr>
          <a:xfrm>
            <a:off x="8953500" y="2324100"/>
            <a:ext cx="2400300" cy="26098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16C5496-71CD-4489-AB94-68F69EB38EA3}"/>
              </a:ext>
            </a:extLst>
          </p:cNvPr>
          <p:cNvSpPr>
            <a:spLocks noGrp="1"/>
          </p:cNvSpPr>
          <p:nvPr/>
        </p:nvSpPr>
        <p:spPr>
          <a:xfrm>
            <a:off x="8953500" y="2324100"/>
            <a:ext cx="76200" cy="26098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C2986DA-5C33-4B7C-94BD-7EDEEDC8C6DE}"/>
              </a:ext>
            </a:extLst>
          </p:cNvPr>
          <p:cNvSpPr>
            <a:spLocks noGrp="1"/>
          </p:cNvSpPr>
          <p:nvPr/>
        </p:nvSpPr>
        <p:spPr>
          <a:xfrm>
            <a:off x="9182100" y="2533650"/>
            <a:ext cx="60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3C75A"/>
                </a:solidFill>
              </a:defRPr>
            </a:pPr>
            <a:r>
              <a:rPr sz="1425" b="1">
                <a:solidFill>
                  <a:srgbClr val="03C75A"/>
                </a:solidFill>
              </a:rPr>
              <a:t>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F12F67-E0EB-4225-82FE-F97A1BD248C6}"/>
              </a:ext>
            </a:extLst>
          </p:cNvPr>
          <p:cNvSpPr>
            <a:spLocks noGrp="1"/>
          </p:cNvSpPr>
          <p:nvPr/>
        </p:nvSpPr>
        <p:spPr>
          <a:xfrm>
            <a:off x="9182100" y="3105150"/>
            <a:ext cx="1943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C1C1E"/>
                </a:solidFill>
              </a:defRPr>
            </a:pPr>
            <a:r>
              <a:rPr sz="1800" b="1">
                <a:solidFill>
                  <a:srgbClr val="1C1C1E"/>
                </a:solidFill>
              </a:rPr>
              <a:t>5단계 분석 반영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FA254C-9E52-4C05-8064-24C6CC409944}"/>
              </a:ext>
            </a:extLst>
          </p:cNvPr>
          <p:cNvSpPr>
            <a:spLocks noGrp="1"/>
          </p:cNvSpPr>
          <p:nvPr/>
        </p:nvSpPr>
        <p:spPr>
          <a:xfrm>
            <a:off x="9182100" y="3905250"/>
            <a:ext cx="1943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별점 없이 텍스트를 분류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58DB6ED-FD8F-4D1B-815B-44687685FC12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5C7BCD8-D8A6-4559-AE41-8B77B20EBEE4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856D6"/>
                </a:solidFill>
              </a:defRPr>
            </a:pPr>
            <a:r>
              <a:rPr sz="1050" b="1">
                <a:solidFill>
                  <a:srgbClr val="5856D6"/>
                </a:solidFill>
              </a:rPr>
              <a:t>핵심 가설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6E2DA6-1303-4D54-97DE-5BBC68774C5A}"/>
              </a:ext>
            </a:extLst>
          </p:cNvPr>
          <p:cNvSpPr>
            <a:spLocks noGrp="1"/>
          </p:cNvSpPr>
          <p:nvPr/>
        </p:nvSpPr>
        <p:spPr>
          <a:xfrm>
            <a:off x="1847850" y="5410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1C1C1E"/>
                </a:solidFill>
              </a:defRPr>
            </a:pPr>
            <a:r>
              <a:rPr sz="1575" b="1">
                <a:solidFill>
                  <a:srgbClr val="1C1C1E"/>
                </a:solidFill>
              </a:rPr>
              <a:t>신뢰할 수 있는 입력과 쉬운 해석을 함께 제공하면, 장소 선택이 빨라진다.</a:t>
            </a:r>
          </a:p>
        </p:txBody>
      </p:sp>
    </p:spTree>
    <p:extLst>
      <p:ext uri="{BB962C8B-B14F-4D97-AF65-F5344CB8AC3E}">
        <p14:creationId xmlns:p14="http://schemas.microsoft.com/office/powerpoint/2010/main" val="410652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7D8FF4-6AC3-4A6B-B3FA-ADFF9B275E0C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WEEK 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23531A-56C5-4701-AAB8-1BD9C4D53474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04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2EBDE1-E397-4A1B-B651-986E4D5C44C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1C1E"/>
                </a:solidFill>
              </a:defRPr>
            </a:pPr>
            <a:r>
              <a:rPr sz="2850" b="1">
                <a:solidFill>
                  <a:srgbClr val="1C1C1E"/>
                </a:solidFill>
              </a:rPr>
              <a:t>1주차에는 구현보다 기준을 먼저 세웠다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7B5559-42AA-4B65-BBB0-B011D1AAA2E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기능을 늘리기 전에 서비스가 지켜야 할 신뢰 규칙과 화면 원칙을 문서화했다.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5C6C08-C691-4B98-8D5F-F0DEAAF441F7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097280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BB90F33-E479-4BDE-A8D6-CAA19423388B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6200" cy="6477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AA4C471-A8FD-4E3B-B69E-E9CE9679411E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5143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BF1F3E-3C2F-476F-B899-D4FD4A37AA48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FF1FF6-0835-41A7-BC74-A3B89BEC741A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문제 정의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8F0C9A4-2A09-41AD-B621-CC25BB529ED0}"/>
              </a:ext>
            </a:extLst>
          </p:cNvPr>
          <p:cNvSpPr>
            <a:spLocks noGrp="1"/>
          </p:cNvSpPr>
          <p:nvPr/>
        </p:nvSpPr>
        <p:spPr>
          <a:xfrm>
            <a:off x="3714750" y="2219325"/>
            <a:ext cx="7486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리뷰 신뢰 문제와 핵심 사용자 가치 정리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9A322C-0530-4CD0-B075-D7671BFA917D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1097280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A12F6A-437F-464D-8625-6ED803AAF9BF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76200" cy="6477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EE2B94D-8843-4987-8CA2-91965114722A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514350" cy="32385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186950-16F2-44C8-B888-B111C3130AA0}"/>
              </a:ext>
            </a:extLst>
          </p:cNvPr>
          <p:cNvSpPr>
            <a:spLocks noGrp="1"/>
          </p:cNvSpPr>
          <p:nvPr/>
        </p:nvSpPr>
        <p:spPr>
          <a:xfrm>
            <a:off x="800100" y="30956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DA2895-B149-4CE8-AECF-8CE979559290}"/>
              </a:ext>
            </a:extLst>
          </p:cNvPr>
          <p:cNvSpPr>
            <a:spLocks noGrp="1"/>
          </p:cNvSpPr>
          <p:nvPr/>
        </p:nvSpPr>
        <p:spPr>
          <a:xfrm>
            <a:off x="1524000" y="30575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도메인 규칙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B2791F-629A-4936-AB4E-DEE998281205}"/>
              </a:ext>
            </a:extLst>
          </p:cNvPr>
          <p:cNvSpPr>
            <a:spLocks noGrp="1"/>
          </p:cNvSpPr>
          <p:nvPr/>
        </p:nvSpPr>
        <p:spPr>
          <a:xfrm>
            <a:off x="3714750" y="3057525"/>
            <a:ext cx="7486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영수증·결제일 30일·중복 방지·90일 가중치 설계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131FA6-F815-4664-874E-4F460A898C10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1097280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278752E-A54F-4F9C-A4D9-B4F5FCF969F9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76200" cy="6477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97445DB-D69E-41A7-A9C8-8197F911CB28}"/>
              </a:ext>
            </a:extLst>
          </p:cNvPr>
          <p:cNvSpPr>
            <a:spLocks noGrp="1"/>
          </p:cNvSpPr>
          <p:nvPr/>
        </p:nvSpPr>
        <p:spPr>
          <a:xfrm>
            <a:off x="800100" y="3933825"/>
            <a:ext cx="5143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CEE210-7A24-4AC8-8ABA-C34D78AEACE3}"/>
              </a:ext>
            </a:extLst>
          </p:cNvPr>
          <p:cNvSpPr>
            <a:spLocks noGrp="1"/>
          </p:cNvSpPr>
          <p:nvPr/>
        </p:nvSpPr>
        <p:spPr>
          <a:xfrm>
            <a:off x="800100" y="39338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D8A3F0-2810-46ED-BAB5-F6FC8C1B3685}"/>
              </a:ext>
            </a:extLst>
          </p:cNvPr>
          <p:cNvSpPr>
            <a:spLocks noGrp="1"/>
          </p:cNvSpPr>
          <p:nvPr/>
        </p:nvSpPr>
        <p:spPr>
          <a:xfrm>
            <a:off x="1524000" y="38957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개발 구조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E4F86C-7B71-4253-9DD5-405FA1F4EE0F}"/>
              </a:ext>
            </a:extLst>
          </p:cNvPr>
          <p:cNvSpPr>
            <a:spLocks noGrp="1"/>
          </p:cNvSpPr>
          <p:nvPr/>
        </p:nvSpPr>
        <p:spPr>
          <a:xfrm>
            <a:off x="3714750" y="3895725"/>
            <a:ext cx="7486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React + Express + Supabase 구조 결정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41BA506-E7D5-4AB4-B150-5AC20EA07F4F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0972800" cy="6477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DE3B65F-07EA-4E43-A2B5-00C553EE3607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76200" cy="6477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CF88486-7C35-4BA4-8D31-A272B18CA413}"/>
              </a:ext>
            </a:extLst>
          </p:cNvPr>
          <p:cNvSpPr>
            <a:spLocks noGrp="1"/>
          </p:cNvSpPr>
          <p:nvPr/>
        </p:nvSpPr>
        <p:spPr>
          <a:xfrm>
            <a:off x="800100" y="4772025"/>
            <a:ext cx="5143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509B7E-C815-48D3-8439-91A41EEBB900}"/>
              </a:ext>
            </a:extLst>
          </p:cNvPr>
          <p:cNvSpPr>
            <a:spLocks noGrp="1"/>
          </p:cNvSpPr>
          <p:nvPr/>
        </p:nvSpPr>
        <p:spPr>
          <a:xfrm>
            <a:off x="800100" y="4772025"/>
            <a:ext cx="514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04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05200EF-129B-4710-AD35-4FE00CE18EF3}"/>
              </a:ext>
            </a:extLst>
          </p:cNvPr>
          <p:cNvSpPr>
            <a:spLocks noGrp="1"/>
          </p:cNvSpPr>
          <p:nvPr/>
        </p:nvSpPr>
        <p:spPr>
          <a:xfrm>
            <a:off x="1524000" y="4733925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디자인 시스템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CFB434-C2F3-4936-938E-4B91FA53A81A}"/>
              </a:ext>
            </a:extLst>
          </p:cNvPr>
          <p:cNvSpPr>
            <a:spLocks noGrp="1"/>
          </p:cNvSpPr>
          <p:nvPr/>
        </p:nvSpPr>
        <p:spPr>
          <a:xfrm>
            <a:off x="3714750" y="4733925"/>
            <a:ext cx="7486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모바일 우선·지도 중심·초록=신뢰·파랑=행동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0548209-2C3A-42D0-AA40-8488DAC3AD02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3C75A"/>
                </a:solidFill>
              </a:defRPr>
            </a:pPr>
            <a:r>
              <a:rPr sz="1125" b="1">
                <a:solidFill>
                  <a:srgbClr val="03C75A"/>
                </a:solidFill>
              </a:rPr>
              <a:t>결과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15D88F8-BCAA-45F3-B2AD-8E68F371F376}"/>
              </a:ext>
            </a:extLst>
          </p:cNvPr>
          <p:cNvSpPr>
            <a:spLocks noGrp="1"/>
          </p:cNvSpPr>
          <p:nvPr/>
        </p:nvSpPr>
        <p:spPr>
          <a:xfrm>
            <a:off x="1295400" y="57340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이후 구현에서 무엇을 만들고, 무엇을 아직 완료라고 말하면 안 되는지 기준이 생겼다.</a:t>
            </a:r>
          </a:p>
        </p:txBody>
      </p:sp>
    </p:spTree>
    <p:extLst>
      <p:ext uri="{BB962C8B-B14F-4D97-AF65-F5344CB8AC3E}">
        <p14:creationId xmlns:p14="http://schemas.microsoft.com/office/powerpoint/2010/main" val="120629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A33BB66-B426-4175-980E-9241411E2CB3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WEEK 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311D7D-511F-4240-9E02-BE7028E5AFB7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D1D38E9-CEF7-4933-AE7D-0E36A5F4C2D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1C1E"/>
                </a:solidFill>
              </a:defRPr>
            </a:pPr>
            <a:r>
              <a:rPr sz="2850" b="1">
                <a:solidFill>
                  <a:srgbClr val="1C1C1E"/>
                </a:solidFill>
              </a:rPr>
              <a:t>2주차에는 실제 지도를 서비스 흐름으로 연결했다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DA51FC-2240-477E-A142-DB38060D1E6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예시 데이터 화면을 걷어내고 실제 장소 검색과 상태 유지에 집중했다.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AC9174C-FF51-4FD4-AE50-4C7EDF4FA4D3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335280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DA7C00B-227B-4759-95ED-42A74E322DB4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76200" cy="29527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B0100F6-2178-4576-B236-28B4D31D602B}"/>
              </a:ext>
            </a:extLst>
          </p:cNvPr>
          <p:cNvSpPr>
            <a:spLocks noGrp="1"/>
          </p:cNvSpPr>
          <p:nvPr/>
        </p:nvSpPr>
        <p:spPr>
          <a:xfrm>
            <a:off x="857250" y="243840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95B0C3-3281-4CFE-A121-D1FCF0CF8B62}"/>
              </a:ext>
            </a:extLst>
          </p:cNvPr>
          <p:cNvSpPr>
            <a:spLocks noGrp="1"/>
          </p:cNvSpPr>
          <p:nvPr/>
        </p:nvSpPr>
        <p:spPr>
          <a:xfrm>
            <a:off x="857250" y="24384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305C46-5694-49BD-90CE-073E79C57B73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C1C1E"/>
                </a:solidFill>
              </a:defRPr>
            </a:pPr>
            <a:r>
              <a:rPr sz="1875" b="1">
                <a:solidFill>
                  <a:srgbClr val="1C1C1E"/>
                </a:solidFill>
              </a:rPr>
              <a:t>지도·검색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709AE7-9A78-4DB6-80C5-FD4545561BB0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Kakao Maps JS</a:t>
            </a:r>
          </a:p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Local REST API</a:t>
            </a:r>
          </a:p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현재 지도 주변 우선 검색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F456004-4710-4509-8744-CF6116748192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335280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9F8428-9450-414D-8E44-E1882DFFFC92}"/>
              </a:ext>
            </a:extLst>
          </p:cNvPr>
          <p:cNvSpPr>
            <a:spLocks noGrp="1"/>
          </p:cNvSpPr>
          <p:nvPr/>
        </p:nvSpPr>
        <p:spPr>
          <a:xfrm>
            <a:off x="4267200" y="2190750"/>
            <a:ext cx="76200" cy="29527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6539927-4496-43DB-98D0-00A8EAAB03C1}"/>
              </a:ext>
            </a:extLst>
          </p:cNvPr>
          <p:cNvSpPr>
            <a:spLocks noGrp="1"/>
          </p:cNvSpPr>
          <p:nvPr/>
        </p:nvSpPr>
        <p:spPr>
          <a:xfrm>
            <a:off x="4514850" y="243840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089C01-7E46-487D-8CEF-9E262BD04260}"/>
              </a:ext>
            </a:extLst>
          </p:cNvPr>
          <p:cNvSpPr>
            <a:spLocks noGrp="1"/>
          </p:cNvSpPr>
          <p:nvPr/>
        </p:nvSpPr>
        <p:spPr>
          <a:xfrm>
            <a:off x="4514850" y="24384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02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944AA2-87D1-4DF8-9676-95BE9653375D}"/>
              </a:ext>
            </a:extLst>
          </p:cNvPr>
          <p:cNvSpPr>
            <a:spLocks noGrp="1"/>
          </p:cNvSpPr>
          <p:nvPr/>
        </p:nvSpPr>
        <p:spPr>
          <a:xfrm>
            <a:off x="4514850" y="29718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C1C1E"/>
                </a:solidFill>
              </a:defRPr>
            </a:pPr>
            <a:r>
              <a:rPr sz="1875" b="1">
                <a:solidFill>
                  <a:srgbClr val="1C1C1E"/>
                </a:solidFill>
              </a:rPr>
              <a:t>탐색 경험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F1A30CC-B105-4F92-8C09-20AEBEA421EE}"/>
              </a:ext>
            </a:extLst>
          </p:cNvPr>
          <p:cNvSpPr>
            <a:spLocks noGrp="1"/>
          </p:cNvSpPr>
          <p:nvPr/>
        </p:nvSpPr>
        <p:spPr>
          <a:xfrm>
            <a:off x="4514850" y="360045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자동완성</a:t>
            </a:r>
          </a:p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검색 후 지도 위치 유지</a:t>
            </a:r>
          </a:p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상세 → 지도 복귀 상태 유지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9349E41-3EF7-4536-810E-50F4250F3745}"/>
              </a:ext>
            </a:extLst>
          </p:cNvPr>
          <p:cNvSpPr>
            <a:spLocks noGrp="1"/>
          </p:cNvSpPr>
          <p:nvPr/>
        </p:nvSpPr>
        <p:spPr>
          <a:xfrm>
            <a:off x="7924800" y="2190750"/>
            <a:ext cx="335280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1E1A8B-4A49-468B-BE28-436DBBD3DA14}"/>
              </a:ext>
            </a:extLst>
          </p:cNvPr>
          <p:cNvSpPr>
            <a:spLocks noGrp="1"/>
          </p:cNvSpPr>
          <p:nvPr/>
        </p:nvSpPr>
        <p:spPr>
          <a:xfrm>
            <a:off x="7924800" y="2190750"/>
            <a:ext cx="76200" cy="29527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F7074D6-B6CF-493A-98BD-A12A894C5EA0}"/>
              </a:ext>
            </a:extLst>
          </p:cNvPr>
          <p:cNvSpPr>
            <a:spLocks noGrp="1"/>
          </p:cNvSpPr>
          <p:nvPr/>
        </p:nvSpPr>
        <p:spPr>
          <a:xfrm>
            <a:off x="8172450" y="2438400"/>
            <a:ext cx="4953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AA5DBD-8D80-4E28-AA31-2AF55473FE50}"/>
              </a:ext>
            </a:extLst>
          </p:cNvPr>
          <p:cNvSpPr>
            <a:spLocks noGrp="1"/>
          </p:cNvSpPr>
          <p:nvPr/>
        </p:nvSpPr>
        <p:spPr>
          <a:xfrm>
            <a:off x="8172450" y="2438400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03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7AAED4C-8E1F-4750-B605-AC16B3FBC727}"/>
              </a:ext>
            </a:extLst>
          </p:cNvPr>
          <p:cNvSpPr>
            <a:spLocks noGrp="1"/>
          </p:cNvSpPr>
          <p:nvPr/>
        </p:nvSpPr>
        <p:spPr>
          <a:xfrm>
            <a:off x="8172450" y="297180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C1C1E"/>
                </a:solidFill>
              </a:defRPr>
            </a:pPr>
            <a:r>
              <a:rPr sz="1875" b="1">
                <a:solidFill>
                  <a:srgbClr val="1C1C1E"/>
                </a:solidFill>
              </a:rPr>
              <a:t>사용자 흐름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B1D939-BED5-4F8A-93E8-ACC8F8A80173}"/>
              </a:ext>
            </a:extLst>
          </p:cNvPr>
          <p:cNvSpPr>
            <a:spLocks noGrp="1"/>
          </p:cNvSpPr>
          <p:nvPr/>
        </p:nvSpPr>
        <p:spPr>
          <a:xfrm>
            <a:off x="8172450" y="360045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Supabase 로그인</a:t>
            </a:r>
          </a:p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비로그인 검색 허용</a:t>
            </a:r>
          </a:p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리뷰 작성 시 로그인 요구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1460E4D-6EE7-429A-8677-7FABB79F3E69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FFF5E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FC725C6-CB64-453A-B94D-AD246F8DD04F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0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9F0A"/>
                </a:solidFill>
              </a:defRPr>
            </a:pPr>
            <a:r>
              <a:rPr sz="1050" b="1">
                <a:solidFill>
                  <a:srgbClr val="FF9F0A"/>
                </a:solidFill>
              </a:rPr>
              <a:t>배운 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1F2C846-DD0C-4F0B-8460-244DB4AC46C4}"/>
              </a:ext>
            </a:extLst>
          </p:cNvPr>
          <p:cNvSpPr>
            <a:spLocks noGrp="1"/>
          </p:cNvSpPr>
          <p:nvPr/>
        </p:nvSpPr>
        <p:spPr>
          <a:xfrm>
            <a:off x="1790700" y="550545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지도 앱은 페이지 이동보다 ‘사용자가 보고 있던 맥락을 잃지 않는 것’이 더 중요했다.</a:t>
            </a:r>
          </a:p>
        </p:txBody>
      </p:sp>
    </p:spTree>
    <p:extLst>
      <p:ext uri="{BB962C8B-B14F-4D97-AF65-F5344CB8AC3E}">
        <p14:creationId xmlns:p14="http://schemas.microsoft.com/office/powerpoint/2010/main" val="142292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2F5931A1-5722-486D-B26F-ACEA9C3A8236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WEEK 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6AD849-BFC1-4916-839F-D1654BC2494B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76B2F1-AD45-4DD2-BA4F-16BBD7D2421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1C1E"/>
                </a:solidFill>
              </a:defRPr>
            </a:pPr>
            <a:r>
              <a:rPr sz="2850" b="1" dirty="0">
                <a:solidFill>
                  <a:srgbClr val="1C1C1E"/>
                </a:solidFill>
              </a:rPr>
              <a:t>3주차에는 </a:t>
            </a:r>
            <a:r>
              <a:rPr sz="2850" b="1" dirty="0" err="1">
                <a:solidFill>
                  <a:srgbClr val="1C1C1E"/>
                </a:solidFill>
              </a:rPr>
              <a:t>데이터와</a:t>
            </a:r>
            <a:r>
              <a:rPr sz="2850" b="1" dirty="0">
                <a:solidFill>
                  <a:srgbClr val="1C1C1E"/>
                </a:solidFill>
              </a:rPr>
              <a:t> </a:t>
            </a:r>
            <a:r>
              <a:rPr sz="2850" b="1" dirty="0" err="1">
                <a:solidFill>
                  <a:srgbClr val="1C1C1E"/>
                </a:solidFill>
              </a:rPr>
              <a:t>AI를</a:t>
            </a:r>
            <a:r>
              <a:rPr sz="2850" b="1" dirty="0">
                <a:solidFill>
                  <a:srgbClr val="1C1C1E"/>
                </a:solidFill>
              </a:rPr>
              <a:t> </a:t>
            </a:r>
            <a:r>
              <a:rPr sz="2850" b="1" dirty="0" err="1">
                <a:solidFill>
                  <a:srgbClr val="1C1C1E"/>
                </a:solidFill>
              </a:rPr>
              <a:t>붙여</a:t>
            </a:r>
            <a:r>
              <a:rPr sz="2850" b="1" dirty="0">
                <a:solidFill>
                  <a:srgbClr val="1C1C1E"/>
                </a:solidFill>
              </a:rPr>
              <a:t> </a:t>
            </a:r>
            <a:r>
              <a:rPr sz="2850" b="1" dirty="0" err="1">
                <a:solidFill>
                  <a:srgbClr val="1C1C1E"/>
                </a:solidFill>
              </a:rPr>
              <a:t>MVP를</a:t>
            </a:r>
            <a:r>
              <a:rPr sz="2850" b="1" dirty="0">
                <a:solidFill>
                  <a:srgbClr val="1C1C1E"/>
                </a:solidFill>
              </a:rPr>
              <a:t> </a:t>
            </a:r>
            <a:r>
              <a:rPr sz="2850" b="1" dirty="0" err="1">
                <a:solidFill>
                  <a:srgbClr val="1C1C1E"/>
                </a:solidFill>
              </a:rPr>
              <a:t>증명</a:t>
            </a:r>
            <a:endParaRPr sz="2850" b="1" dirty="0">
              <a:solidFill>
                <a:srgbClr val="1C1C1E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8B1EA8-6DB5-4E76-8828-55272E940E7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 dirty="0" err="1">
                <a:solidFill>
                  <a:srgbClr val="6E6E73"/>
                </a:solidFill>
              </a:rPr>
              <a:t>리뷰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텍스트가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실제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분석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결과와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그래프로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이어지는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최소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흐름을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완성</a:t>
            </a:r>
            <a:endParaRPr sz="1350" b="0" dirty="0">
              <a:solidFill>
                <a:srgbClr val="6E6E73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47546BB-56D1-477A-AE23-FA8EC22FE08D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24384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8858B6-18F5-44E0-BF76-FAB93C2BDA9D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659F2BF-2744-41B9-9B1E-248230E3AC37}"/>
              </a:ext>
            </a:extLst>
          </p:cNvPr>
          <p:cNvSpPr>
            <a:spLocks noGrp="1"/>
          </p:cNvSpPr>
          <p:nvPr/>
        </p:nvSpPr>
        <p:spPr>
          <a:xfrm>
            <a:off x="819150" y="2190750"/>
            <a:ext cx="800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3C75A"/>
                </a:solidFill>
              </a:defRPr>
            </a:pPr>
            <a:r>
              <a:rPr sz="2850" b="1">
                <a:solidFill>
                  <a:srgbClr val="03C75A"/>
                </a:solidFill>
              </a:rPr>
              <a:t>5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05B19D-C560-4417-A4D3-F428E2B432C4}"/>
              </a:ext>
            </a:extLst>
          </p:cNvPr>
          <p:cNvSpPr>
            <a:spLocks noGrp="1"/>
          </p:cNvSpPr>
          <p:nvPr/>
        </p:nvSpPr>
        <p:spPr>
          <a:xfrm>
            <a:off x="1600200" y="22860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감정 단계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A84982-D3DE-4324-9AD0-8D3817E2E267}"/>
              </a:ext>
            </a:extLst>
          </p:cNvPr>
          <p:cNvSpPr>
            <a:spLocks noGrp="1"/>
          </p:cNvSpPr>
          <p:nvPr/>
        </p:nvSpPr>
        <p:spPr>
          <a:xfrm>
            <a:off x="3352800" y="2076450"/>
            <a:ext cx="24384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D611E16-8856-4937-AE60-7CF69985B525}"/>
              </a:ext>
            </a:extLst>
          </p:cNvPr>
          <p:cNvSpPr>
            <a:spLocks noGrp="1"/>
          </p:cNvSpPr>
          <p:nvPr/>
        </p:nvSpPr>
        <p:spPr>
          <a:xfrm>
            <a:off x="3352800" y="207645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6B9CAC-0FF1-4110-95A1-2F5FAE429CA8}"/>
              </a:ext>
            </a:extLst>
          </p:cNvPr>
          <p:cNvSpPr>
            <a:spLocks noGrp="1"/>
          </p:cNvSpPr>
          <p:nvPr/>
        </p:nvSpPr>
        <p:spPr>
          <a:xfrm>
            <a:off x="3562350" y="2190750"/>
            <a:ext cx="800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07AFF"/>
                </a:solidFill>
              </a:defRPr>
            </a:pPr>
            <a:r>
              <a:rPr sz="2850" b="1">
                <a:solidFill>
                  <a:srgbClr val="007AFF"/>
                </a:solidFill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9AE8F3-A9F7-4499-9779-2516EEAB3CD9}"/>
              </a:ext>
            </a:extLst>
          </p:cNvPr>
          <p:cNvSpPr>
            <a:spLocks noGrp="1"/>
          </p:cNvSpPr>
          <p:nvPr/>
        </p:nvSpPr>
        <p:spPr>
          <a:xfrm>
            <a:off x="4343400" y="22860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DB 마이그레이션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FB80D57-A87C-44E8-A806-C188C697474E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24384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6CCE5E1-FD91-46E3-85DE-BD4F0B9A4925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693D95D-69E9-45ED-B591-DEFD877DF8C4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800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07AFF"/>
                </a:solidFill>
              </a:defRPr>
            </a:pPr>
            <a:r>
              <a:rPr sz="2850" b="1">
                <a:solidFill>
                  <a:srgbClr val="007AFF"/>
                </a:solidFill>
              </a:rPr>
              <a:t>5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253DC8-FE96-40C9-9C67-B150FBADB588}"/>
              </a:ext>
            </a:extLst>
          </p:cNvPr>
          <p:cNvSpPr>
            <a:spLocks noGrp="1"/>
          </p:cNvSpPr>
          <p:nvPr/>
        </p:nvSpPr>
        <p:spPr>
          <a:xfrm>
            <a:off x="7086600" y="22860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프론트 테스트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0E34751-583C-497E-B1FC-CFFD8553B77D}"/>
              </a:ext>
            </a:extLst>
          </p:cNvPr>
          <p:cNvSpPr>
            <a:spLocks noGrp="1"/>
          </p:cNvSpPr>
          <p:nvPr/>
        </p:nvSpPr>
        <p:spPr>
          <a:xfrm>
            <a:off x="8839200" y="2076450"/>
            <a:ext cx="24384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5CC04DB-5EA4-43B2-A42E-8876138AC8EB}"/>
              </a:ext>
            </a:extLst>
          </p:cNvPr>
          <p:cNvSpPr>
            <a:spLocks noGrp="1"/>
          </p:cNvSpPr>
          <p:nvPr/>
        </p:nvSpPr>
        <p:spPr>
          <a:xfrm>
            <a:off x="8839200" y="207645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A02ADC-4098-416A-8058-B6F4E5C9F537}"/>
              </a:ext>
            </a:extLst>
          </p:cNvPr>
          <p:cNvSpPr>
            <a:spLocks noGrp="1"/>
          </p:cNvSpPr>
          <p:nvPr/>
        </p:nvSpPr>
        <p:spPr>
          <a:xfrm>
            <a:off x="9048750" y="2190750"/>
            <a:ext cx="800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07AFF"/>
                </a:solidFill>
              </a:defRPr>
            </a:pPr>
            <a:r>
              <a:rPr sz="2850" b="1">
                <a:solidFill>
                  <a:srgbClr val="007AFF"/>
                </a:solidFill>
              </a:rPr>
              <a:t>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73243F-DA13-491F-A66D-536497CA3CC2}"/>
              </a:ext>
            </a:extLst>
          </p:cNvPr>
          <p:cNvSpPr>
            <a:spLocks noGrp="1"/>
          </p:cNvSpPr>
          <p:nvPr/>
        </p:nvSpPr>
        <p:spPr>
          <a:xfrm>
            <a:off x="9829800" y="22860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서버 테스트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8E2E0BD-AAC0-4BD8-BD5B-5895DC5A4EE8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5295900" cy="2152650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CFB4F8F-348E-4033-912B-C481AEE5B562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76200" cy="21526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8DFD46-6223-4A10-A703-88A769DBD09D}"/>
              </a:ext>
            </a:extLst>
          </p:cNvPr>
          <p:cNvSpPr>
            <a:spLocks noGrp="1"/>
          </p:cNvSpPr>
          <p:nvPr/>
        </p:nvSpPr>
        <p:spPr>
          <a:xfrm>
            <a:off x="876300" y="37528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3C75A"/>
                </a:solidFill>
              </a:defRPr>
            </a:pPr>
            <a:r>
              <a:rPr sz="1500" b="1">
                <a:solidFill>
                  <a:srgbClr val="03C75A"/>
                </a:solidFill>
              </a:rPr>
              <a:t>데이터 기반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6A659BC-7647-4490-93CF-B786A1393B32}"/>
              </a:ext>
            </a:extLst>
          </p:cNvPr>
          <p:cNvSpPr>
            <a:spLocks noGrp="1"/>
          </p:cNvSpPr>
          <p:nvPr/>
        </p:nvSpPr>
        <p:spPr>
          <a:xfrm>
            <a:off x="876300" y="43053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7FEB53-2D41-47F1-B4D1-7F5F15891C94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profiles · places · receipts · reviews · likes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1CCE58E-2D2A-49FF-8888-0934A4224375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F44C156-4B58-4C5D-AE3A-0F525619BE9E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Supabase Auth 세션과 마이페이지 흐름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011FBD4-9F49-4716-8BFD-E9FE1917E33F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CC1C5C1-1CAB-47DC-92B1-24E62174B0F4}"/>
              </a:ext>
            </a:extLst>
          </p:cNvPr>
          <p:cNvSpPr>
            <a:spLocks noGrp="1"/>
          </p:cNvSpPr>
          <p:nvPr/>
        </p:nvSpPr>
        <p:spPr>
          <a:xfrm>
            <a:off x="1066800" y="51625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중복 영수증·인증 리뷰 검증용 DB 구조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CA32FE-DBDA-4FD9-99AC-8DB3101E5C59}"/>
              </a:ext>
            </a:extLst>
          </p:cNvPr>
          <p:cNvSpPr>
            <a:spLocks noGrp="1"/>
          </p:cNvSpPr>
          <p:nvPr/>
        </p:nvSpPr>
        <p:spPr>
          <a:xfrm>
            <a:off x="6172200" y="3524250"/>
            <a:ext cx="5410200" cy="2152650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11D56EB-05C8-47D0-B8C2-A7849572DFB2}"/>
              </a:ext>
            </a:extLst>
          </p:cNvPr>
          <p:cNvSpPr>
            <a:spLocks noGrp="1"/>
          </p:cNvSpPr>
          <p:nvPr/>
        </p:nvSpPr>
        <p:spPr>
          <a:xfrm>
            <a:off x="6172200" y="3524250"/>
            <a:ext cx="76200" cy="21526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34886E9-6566-4CF2-ADF5-46A656D41F2A}"/>
              </a:ext>
            </a:extLst>
          </p:cNvPr>
          <p:cNvSpPr>
            <a:spLocks noGrp="1"/>
          </p:cNvSpPr>
          <p:nvPr/>
        </p:nvSpPr>
        <p:spPr>
          <a:xfrm>
            <a:off x="6438900" y="37528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07AFF"/>
                </a:solidFill>
              </a:defRPr>
            </a:pPr>
            <a:r>
              <a:rPr sz="1500" b="1">
                <a:solidFill>
                  <a:srgbClr val="007AFF"/>
                </a:solidFill>
              </a:rPr>
              <a:t>AI 기반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E9440F8-AF79-4160-83D3-12052C2143B8}"/>
              </a:ext>
            </a:extLst>
          </p:cNvPr>
          <p:cNvSpPr>
            <a:spLocks noGrp="1"/>
          </p:cNvSpPr>
          <p:nvPr/>
        </p:nvSpPr>
        <p:spPr>
          <a:xfrm>
            <a:off x="6438900" y="43053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FAB79F-7944-4C43-B838-7FD798BCE50F}"/>
              </a:ext>
            </a:extLst>
          </p:cNvPr>
          <p:cNvSpPr>
            <a:spLocks noGrp="1"/>
          </p:cNvSpPr>
          <p:nvPr/>
        </p:nvSpPr>
        <p:spPr>
          <a:xfrm>
            <a:off x="6629400" y="4210050"/>
            <a:ext cx="449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OpenAI Responses API 서버 연동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3B4A61A-21FD-4737-83D7-5D7C26BB78BA}"/>
              </a:ext>
            </a:extLst>
          </p:cNvPr>
          <p:cNvSpPr>
            <a:spLocks noGrp="1"/>
          </p:cNvSpPr>
          <p:nvPr/>
        </p:nvSpPr>
        <p:spPr>
          <a:xfrm>
            <a:off x="6438900" y="478155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B8E0019-77D0-46F6-88E6-858BCC259809}"/>
              </a:ext>
            </a:extLst>
          </p:cNvPr>
          <p:cNvSpPr>
            <a:spLocks noGrp="1"/>
          </p:cNvSpPr>
          <p:nvPr/>
        </p:nvSpPr>
        <p:spPr>
          <a:xfrm>
            <a:off x="6629400" y="4686300"/>
            <a:ext cx="449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5단계 분류 + confidence + keywords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D1C0BD9-72B7-49D9-8324-40F5FDC4036B}"/>
              </a:ext>
            </a:extLst>
          </p:cNvPr>
          <p:cNvSpPr>
            <a:spLocks noGrp="1"/>
          </p:cNvSpPr>
          <p:nvPr/>
        </p:nvSpPr>
        <p:spPr>
          <a:xfrm>
            <a:off x="6438900" y="52578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A8C209B-BBD8-47A1-AF91-C6025E507731}"/>
              </a:ext>
            </a:extLst>
          </p:cNvPr>
          <p:cNvSpPr>
            <a:spLocks noGrp="1"/>
          </p:cNvSpPr>
          <p:nvPr/>
        </p:nvSpPr>
        <p:spPr>
          <a:xfrm>
            <a:off x="6629400" y="5162550"/>
            <a:ext cx="449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테스트 리뷰를 즉시 그래프에 반영</a:t>
            </a:r>
          </a:p>
        </p:txBody>
      </p:sp>
    </p:spTree>
    <p:extLst>
      <p:ext uri="{BB962C8B-B14F-4D97-AF65-F5344CB8AC3E}">
        <p14:creationId xmlns:p14="http://schemas.microsoft.com/office/powerpoint/2010/main" val="209425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62ACA50-16BE-43DF-AA5F-A843F62A0395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9B5CD"/>
                </a:solidFill>
              </a:defRPr>
            </a:pPr>
            <a:r>
              <a:rPr sz="975" b="1">
                <a:solidFill>
                  <a:srgbClr val="A9B5CD"/>
                </a:solidFill>
              </a:rPr>
              <a:t>CURRENT PRODUCT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45115B2-F278-4E48-86B9-F4AB24B9532A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9B5CD"/>
                </a:solidFill>
              </a:defRPr>
            </a:pPr>
            <a:r>
              <a:rPr sz="975" b="1">
                <a:solidFill>
                  <a:srgbClr val="A9B5CD"/>
                </a:solidFill>
              </a:rPr>
              <a:t>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250A69-859C-4B27-B238-C5C043767C4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PC와 모바일에서 같은 탐색 흐름이 동작한다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CAFD35-E1BB-498F-8F50-AF83643947DA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00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9B5CD"/>
                </a:solidFill>
              </a:defRPr>
            </a:pPr>
            <a:r>
              <a:rPr sz="1350" b="0">
                <a:solidFill>
                  <a:srgbClr val="A9B5CD"/>
                </a:solidFill>
              </a:rPr>
              <a:t>지도 중심 구조는 유지하고, 화면 크기에 따라 사이드바와 하단 탐색으로 바뀐다.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rcRect t="5038" b="5038"/>
          <a:stretch>
            <a:fillRect/>
          </a:stretch>
        </p:blipFill>
        <p:spPr>
          <a:xfrm>
            <a:off x="609600" y="2019300"/>
            <a:ext cx="7524750" cy="4229100"/>
          </a:xfrm>
          <a:prstGeom prst="roundRect">
            <a:avLst>
              <a:gd name="adj" fmla="val 3604"/>
            </a:avLst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0AFB0B6-9BC6-4C6E-AA49-F338E214DB6C}"/>
              </a:ext>
            </a:extLst>
          </p:cNvPr>
          <p:cNvSpPr>
            <a:spLocks noGrp="1"/>
          </p:cNvSpPr>
          <p:nvPr/>
        </p:nvSpPr>
        <p:spPr>
          <a:xfrm>
            <a:off x="6400800" y="5810250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173B2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9D387F-3391-46EF-BC84-63AE3B013F56}"/>
              </a:ext>
            </a:extLst>
          </p:cNvPr>
          <p:cNvSpPr>
            <a:spLocks noGrp="1"/>
          </p:cNvSpPr>
          <p:nvPr/>
        </p:nvSpPr>
        <p:spPr>
          <a:xfrm>
            <a:off x="6400800" y="581025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실제 localhost 화면</a:t>
            </a:r>
          </a:p>
        </p:txBody>
      </p:sp>
    </p:spTree>
    <p:extLst>
      <p:ext uri="{BB962C8B-B14F-4D97-AF65-F5344CB8AC3E}">
        <p14:creationId xmlns:p14="http://schemas.microsoft.com/office/powerpoint/2010/main" val="1049026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E2A7F6-BE4E-4646-A26B-317AB6423EBD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TECH STACK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118DD3-CE29-46F9-AE12-E624F68767C3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08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9CFCDB-CB45-4464-B38D-56AD7EADF02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1C1E"/>
                </a:solidFill>
              </a:defRPr>
            </a:pPr>
            <a:r>
              <a:rPr sz="2850" b="1" dirty="0" err="1">
                <a:solidFill>
                  <a:srgbClr val="1C1C1E"/>
                </a:solidFill>
              </a:rPr>
              <a:t>프론트·API·데이터를</a:t>
            </a:r>
            <a:r>
              <a:rPr sz="2850" b="1" dirty="0">
                <a:solidFill>
                  <a:srgbClr val="1C1C1E"/>
                </a:solidFill>
              </a:rPr>
              <a:t> </a:t>
            </a:r>
            <a:r>
              <a:rPr sz="2850" b="1" dirty="0" err="1">
                <a:solidFill>
                  <a:srgbClr val="1C1C1E"/>
                </a:solidFill>
              </a:rPr>
              <a:t>역할별로</a:t>
            </a:r>
            <a:r>
              <a:rPr sz="2850" b="1" dirty="0">
                <a:solidFill>
                  <a:srgbClr val="1C1C1E"/>
                </a:solidFill>
              </a:rPr>
              <a:t> </a:t>
            </a:r>
            <a:r>
              <a:rPr sz="2850" b="1" dirty="0" err="1">
                <a:solidFill>
                  <a:srgbClr val="1C1C1E"/>
                </a:solidFill>
              </a:rPr>
              <a:t>분리</a:t>
            </a:r>
            <a:endParaRPr sz="2850" b="1" dirty="0">
              <a:solidFill>
                <a:srgbClr val="1C1C1E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02E8B5-66A9-413B-930C-8618038C380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 dirty="0" err="1">
                <a:solidFill>
                  <a:srgbClr val="6E6E73"/>
                </a:solidFill>
              </a:rPr>
              <a:t>브라우저에는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공개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키만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두고</a:t>
            </a:r>
            <a:r>
              <a:rPr sz="1350" b="0" dirty="0">
                <a:solidFill>
                  <a:srgbClr val="6E6E73"/>
                </a:solidFill>
              </a:rPr>
              <a:t>, </a:t>
            </a:r>
            <a:r>
              <a:rPr sz="1350" b="0" dirty="0" err="1">
                <a:solidFill>
                  <a:srgbClr val="6E6E73"/>
                </a:solidFill>
              </a:rPr>
              <a:t>외부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API와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비밀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키는</a:t>
            </a:r>
            <a:r>
              <a:rPr sz="1350" b="0" dirty="0">
                <a:solidFill>
                  <a:srgbClr val="6E6E73"/>
                </a:solidFill>
              </a:rPr>
              <a:t> Express </a:t>
            </a:r>
            <a:r>
              <a:rPr sz="1350" b="0" dirty="0" err="1">
                <a:solidFill>
                  <a:srgbClr val="6E6E73"/>
                </a:solidFill>
              </a:rPr>
              <a:t>서버가</a:t>
            </a:r>
            <a:r>
              <a:rPr sz="1350" b="0" dirty="0">
                <a:solidFill>
                  <a:srgbClr val="6E6E73"/>
                </a:solidFill>
              </a:rPr>
              <a:t> </a:t>
            </a:r>
            <a:r>
              <a:rPr sz="1350" b="0" dirty="0" err="1">
                <a:solidFill>
                  <a:srgbClr val="6E6E73"/>
                </a:solidFill>
              </a:rPr>
              <a:t>담당</a:t>
            </a:r>
            <a:endParaRPr sz="1350" b="0" dirty="0">
              <a:solidFill>
                <a:srgbClr val="6E6E7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17169A-7D93-4E3B-ABD6-3E2756012436}"/>
              </a:ext>
            </a:extLst>
          </p:cNvPr>
          <p:cNvSpPr>
            <a:spLocks noGrp="1"/>
          </p:cNvSpPr>
          <p:nvPr/>
        </p:nvSpPr>
        <p:spPr>
          <a:xfrm>
            <a:off x="2990850" y="3486150"/>
            <a:ext cx="45720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069BCB8C-BEC2-4239-A790-821D9926857B}"/>
              </a:ext>
            </a:extLst>
          </p:cNvPr>
          <p:cNvSpPr>
            <a:spLocks noGrp="1"/>
          </p:cNvSpPr>
          <p:nvPr/>
        </p:nvSpPr>
        <p:spPr>
          <a:xfrm>
            <a:off x="3419475" y="341947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674466-4758-49D4-8D5D-DD9FDDE0C909}"/>
              </a:ext>
            </a:extLst>
          </p:cNvPr>
          <p:cNvSpPr>
            <a:spLocks noGrp="1"/>
          </p:cNvSpPr>
          <p:nvPr/>
        </p:nvSpPr>
        <p:spPr>
          <a:xfrm>
            <a:off x="5943600" y="3486150"/>
            <a:ext cx="457200" cy="28575"/>
          </a:xfrm>
          <a:prstGeom prst="rect">
            <a:avLst/>
          </a:prstGeom>
          <a:solidFill>
            <a:srgbClr val="5856D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AB1111A9-6AA0-448F-A4FC-361AE8AA66BA}"/>
              </a:ext>
            </a:extLst>
          </p:cNvPr>
          <p:cNvSpPr>
            <a:spLocks noGrp="1"/>
          </p:cNvSpPr>
          <p:nvPr/>
        </p:nvSpPr>
        <p:spPr>
          <a:xfrm>
            <a:off x="6372225" y="3419475"/>
            <a:ext cx="142875" cy="161925"/>
          </a:xfrm>
          <a:prstGeom prst="triangle">
            <a:avLst/>
          </a:prstGeom>
          <a:solidFill>
            <a:srgbClr val="5856D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38388C-9D4A-476D-AE9C-6D93C41546EB}"/>
              </a:ext>
            </a:extLst>
          </p:cNvPr>
          <p:cNvSpPr>
            <a:spLocks noGrp="1"/>
          </p:cNvSpPr>
          <p:nvPr/>
        </p:nvSpPr>
        <p:spPr>
          <a:xfrm>
            <a:off x="8896350" y="3486150"/>
            <a:ext cx="457200" cy="28575"/>
          </a:xfrm>
          <a:prstGeom prst="rect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E95F4363-979C-4CB7-832B-A16EF2932F9C}"/>
              </a:ext>
            </a:extLst>
          </p:cNvPr>
          <p:cNvSpPr>
            <a:spLocks noGrp="1"/>
          </p:cNvSpPr>
          <p:nvPr/>
        </p:nvSpPr>
        <p:spPr>
          <a:xfrm>
            <a:off x="9324975" y="3419475"/>
            <a:ext cx="142875" cy="161925"/>
          </a:xfrm>
          <a:prstGeom prst="triangl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5606C2-BD26-4588-AFF8-B26E309422A4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23812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F19512-8D5C-4B04-BBA7-671AA1507018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76200" cy="20383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EB1E64-CDA6-4A01-9A94-7D919D425BDB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9621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DE0A16-CACF-464C-8F54-DFD12B80A488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React / CRA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EDFDF4-D565-41CD-B680-C6B3CBF8816A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지도 UI · 라우팅 · 반응형</a:t>
            </a:r>
          </a:p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로그인 상태 · 리뷰 화면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E0F218F-DC63-4556-ACB2-D3D6A8F109C1}"/>
              </a:ext>
            </a:extLst>
          </p:cNvPr>
          <p:cNvSpPr>
            <a:spLocks noGrp="1"/>
          </p:cNvSpPr>
          <p:nvPr/>
        </p:nvSpPr>
        <p:spPr>
          <a:xfrm>
            <a:off x="3562350" y="2438400"/>
            <a:ext cx="23812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9E5F883-5CDE-45B8-8BCA-98BD8D579929}"/>
              </a:ext>
            </a:extLst>
          </p:cNvPr>
          <p:cNvSpPr>
            <a:spLocks noGrp="1"/>
          </p:cNvSpPr>
          <p:nvPr/>
        </p:nvSpPr>
        <p:spPr>
          <a:xfrm>
            <a:off x="3562350" y="2438400"/>
            <a:ext cx="76200" cy="2038350"/>
          </a:xfrm>
          <a:prstGeom prst="roundRect">
            <a:avLst>
              <a:gd name="adj" fmla="val 50000"/>
            </a:avLst>
          </a:prstGeom>
          <a:solidFill>
            <a:srgbClr val="5856D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B8FDA09-9FBC-4953-B4BE-6113E672D2DB}"/>
              </a:ext>
            </a:extLst>
          </p:cNvPr>
          <p:cNvSpPr>
            <a:spLocks noGrp="1"/>
          </p:cNvSpPr>
          <p:nvPr/>
        </p:nvSpPr>
        <p:spPr>
          <a:xfrm>
            <a:off x="3771900" y="2686050"/>
            <a:ext cx="1962150" cy="323850"/>
          </a:xfrm>
          <a:prstGeom prst="roundRect">
            <a:avLst>
              <a:gd name="adj" fmla="val 50000"/>
            </a:avLst>
          </a:prstGeom>
          <a:solidFill>
            <a:srgbClr val="EFEE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AAC5C1-C6A5-4C23-86AB-5B68ED4B79E6}"/>
              </a:ext>
            </a:extLst>
          </p:cNvPr>
          <p:cNvSpPr>
            <a:spLocks noGrp="1"/>
          </p:cNvSpPr>
          <p:nvPr/>
        </p:nvSpPr>
        <p:spPr>
          <a:xfrm>
            <a:off x="3771900" y="26860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856D6"/>
                </a:solidFill>
              </a:defRPr>
            </a:pPr>
            <a:r>
              <a:rPr sz="1050" b="1">
                <a:solidFill>
                  <a:srgbClr val="5856D6"/>
                </a:solidFill>
              </a:rPr>
              <a:t>Express API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29FC1E-DE57-4830-B0BF-6D83203F9503}"/>
              </a:ext>
            </a:extLst>
          </p:cNvPr>
          <p:cNvSpPr>
            <a:spLocks noGrp="1"/>
          </p:cNvSpPr>
          <p:nvPr/>
        </p:nvSpPr>
        <p:spPr>
          <a:xfrm>
            <a:off x="3790950" y="331470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검색 프록시 · 입력 검증</a:t>
            </a:r>
          </a:p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AI 요청 · 비밀 키 보호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643BDD6-ECAC-4092-B59B-8D235EB51457}"/>
              </a:ext>
            </a:extLst>
          </p:cNvPr>
          <p:cNvSpPr>
            <a:spLocks noGrp="1"/>
          </p:cNvSpPr>
          <p:nvPr/>
        </p:nvSpPr>
        <p:spPr>
          <a:xfrm>
            <a:off x="6515100" y="2438400"/>
            <a:ext cx="23812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79E9F33-05F7-47FE-828E-F74B3E2C830D}"/>
              </a:ext>
            </a:extLst>
          </p:cNvPr>
          <p:cNvSpPr>
            <a:spLocks noGrp="1"/>
          </p:cNvSpPr>
          <p:nvPr/>
        </p:nvSpPr>
        <p:spPr>
          <a:xfrm>
            <a:off x="6515100" y="2438400"/>
            <a:ext cx="76200" cy="20383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476BC32-47C2-4346-93FB-C8B24211D6A4}"/>
              </a:ext>
            </a:extLst>
          </p:cNvPr>
          <p:cNvSpPr>
            <a:spLocks noGrp="1"/>
          </p:cNvSpPr>
          <p:nvPr/>
        </p:nvSpPr>
        <p:spPr>
          <a:xfrm>
            <a:off x="6724650" y="2686050"/>
            <a:ext cx="1962150" cy="32385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7FF2D5-BA56-441A-AF1E-C8C2FE8DE615}"/>
              </a:ext>
            </a:extLst>
          </p:cNvPr>
          <p:cNvSpPr>
            <a:spLocks noGrp="1"/>
          </p:cNvSpPr>
          <p:nvPr/>
        </p:nvSpPr>
        <p:spPr>
          <a:xfrm>
            <a:off x="6724650" y="26860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외부 API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EDEBC0C-FC53-41E0-A0F4-6743CFE1B433}"/>
              </a:ext>
            </a:extLst>
          </p:cNvPr>
          <p:cNvSpPr>
            <a:spLocks noGrp="1"/>
          </p:cNvSpPr>
          <p:nvPr/>
        </p:nvSpPr>
        <p:spPr>
          <a:xfrm>
            <a:off x="6743700" y="331470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Kakao Maps / Local</a:t>
            </a:r>
          </a:p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OpenAI Responses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B0909F9-BB8D-4879-8BF4-4B443E83C2C2}"/>
              </a:ext>
            </a:extLst>
          </p:cNvPr>
          <p:cNvSpPr>
            <a:spLocks noGrp="1"/>
          </p:cNvSpPr>
          <p:nvPr/>
        </p:nvSpPr>
        <p:spPr>
          <a:xfrm>
            <a:off x="9467850" y="2438400"/>
            <a:ext cx="2114550" cy="203835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3E11DAB-5303-4CBB-93E4-EAF292B2B960}"/>
              </a:ext>
            </a:extLst>
          </p:cNvPr>
          <p:cNvSpPr>
            <a:spLocks noGrp="1"/>
          </p:cNvSpPr>
          <p:nvPr/>
        </p:nvSpPr>
        <p:spPr>
          <a:xfrm>
            <a:off x="9467850" y="2438400"/>
            <a:ext cx="76200" cy="203835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3EDC684-2D95-4701-9C6F-7B03B89E1D89}"/>
              </a:ext>
            </a:extLst>
          </p:cNvPr>
          <p:cNvSpPr>
            <a:spLocks noGrp="1"/>
          </p:cNvSpPr>
          <p:nvPr/>
        </p:nvSpPr>
        <p:spPr>
          <a:xfrm>
            <a:off x="9677400" y="2686050"/>
            <a:ext cx="1695450" cy="323850"/>
          </a:xfrm>
          <a:prstGeom prst="roundRect">
            <a:avLst>
              <a:gd name="adj" fmla="val 50000"/>
            </a:avLst>
          </a:prstGeom>
          <a:solidFill>
            <a:srgbClr val="FFF5E5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0AD30C2-6193-4869-BCB1-78AB8D2B8F94}"/>
              </a:ext>
            </a:extLst>
          </p:cNvPr>
          <p:cNvSpPr>
            <a:spLocks noGrp="1"/>
          </p:cNvSpPr>
          <p:nvPr/>
        </p:nvSpPr>
        <p:spPr>
          <a:xfrm>
            <a:off x="9677400" y="2686050"/>
            <a:ext cx="1695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9F0A"/>
                </a:solidFill>
              </a:defRPr>
            </a:pPr>
            <a:r>
              <a:rPr sz="1050" b="1">
                <a:solidFill>
                  <a:srgbClr val="FF9F0A"/>
                </a:solidFill>
              </a:rPr>
              <a:t>Supabase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1A0E2D6-1F70-4A20-BCDD-D8B5B955AB40}"/>
              </a:ext>
            </a:extLst>
          </p:cNvPr>
          <p:cNvSpPr>
            <a:spLocks noGrp="1"/>
          </p:cNvSpPr>
          <p:nvPr/>
        </p:nvSpPr>
        <p:spPr>
          <a:xfrm>
            <a:off x="9696450" y="3314700"/>
            <a:ext cx="16573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Auth · Postgres</a:t>
            </a:r>
          </a:p>
          <a:p>
            <a:pPr algn="ctr">
              <a:defRPr sz="1275" b="0">
                <a:solidFill>
                  <a:srgbClr val="6E6E73"/>
                </a:solidFill>
              </a:defRPr>
            </a:pPr>
            <a:r>
              <a:rPr sz="1275" b="0">
                <a:solidFill>
                  <a:srgbClr val="6E6E73"/>
                </a:solidFill>
              </a:rPr>
              <a:t>RLS 기반 데이터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51E2656-D4BD-421D-A642-8C821CF3700E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E39E948-5E2E-4956-8B7B-1A9E08B2FC48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 dirty="0">
                <a:solidFill>
                  <a:srgbClr val="007AFF"/>
                </a:solidFill>
              </a:rPr>
              <a:t>React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D3D064D-95A8-411F-AE94-7848B0DBF0C1}"/>
              </a:ext>
            </a:extLst>
          </p:cNvPr>
          <p:cNvSpPr>
            <a:spLocks noGrp="1"/>
          </p:cNvSpPr>
          <p:nvPr/>
        </p:nvSpPr>
        <p:spPr>
          <a:xfrm>
            <a:off x="2609850" y="51435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0E9FC48-8EBD-47E4-B3D6-83A772B518BA}"/>
              </a:ext>
            </a:extLst>
          </p:cNvPr>
          <p:cNvSpPr>
            <a:spLocks noGrp="1"/>
          </p:cNvSpPr>
          <p:nvPr/>
        </p:nvSpPr>
        <p:spPr>
          <a:xfrm>
            <a:off x="2609850" y="5143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 dirty="0">
                <a:solidFill>
                  <a:srgbClr val="007AFF"/>
                </a:solidFill>
              </a:rPr>
              <a:t>Express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AEFC0D7-05AD-4275-9203-2236D40230E3}"/>
              </a:ext>
            </a:extLst>
          </p:cNvPr>
          <p:cNvSpPr>
            <a:spLocks noGrp="1"/>
          </p:cNvSpPr>
          <p:nvPr/>
        </p:nvSpPr>
        <p:spPr>
          <a:xfrm>
            <a:off x="4610100" y="51435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19A53A-B5BC-4BFF-B7C3-BF5DB4B880D8}"/>
              </a:ext>
            </a:extLst>
          </p:cNvPr>
          <p:cNvSpPr>
            <a:spLocks noGrp="1"/>
          </p:cNvSpPr>
          <p:nvPr/>
        </p:nvSpPr>
        <p:spPr>
          <a:xfrm>
            <a:off x="4610100" y="5143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 dirty="0" err="1">
                <a:solidFill>
                  <a:srgbClr val="03C75A"/>
                </a:solidFill>
              </a:rPr>
              <a:t>Supabase</a:t>
            </a:r>
            <a:endParaRPr sz="1050" b="1" dirty="0">
              <a:solidFill>
                <a:srgbClr val="03C75A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05DE6A4-8182-4413-969E-02B1BD18B8DB}"/>
              </a:ext>
            </a:extLst>
          </p:cNvPr>
          <p:cNvSpPr>
            <a:spLocks noGrp="1"/>
          </p:cNvSpPr>
          <p:nvPr/>
        </p:nvSpPr>
        <p:spPr>
          <a:xfrm>
            <a:off x="6610350" y="51435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340713F-38B0-4DF4-A6E0-24F219103A1C}"/>
              </a:ext>
            </a:extLst>
          </p:cNvPr>
          <p:cNvSpPr>
            <a:spLocks noGrp="1"/>
          </p:cNvSpPr>
          <p:nvPr/>
        </p:nvSpPr>
        <p:spPr>
          <a:xfrm>
            <a:off x="6610350" y="5143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 dirty="0">
                <a:solidFill>
                  <a:srgbClr val="007AFF"/>
                </a:solidFill>
              </a:rPr>
              <a:t>OpenAI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FC18B8E-D793-436F-A9E5-B49490F6AFAA}"/>
              </a:ext>
            </a:extLst>
          </p:cNvPr>
          <p:cNvSpPr>
            <a:spLocks noGrp="1"/>
          </p:cNvSpPr>
          <p:nvPr/>
        </p:nvSpPr>
        <p:spPr>
          <a:xfrm>
            <a:off x="8610600" y="51435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8386265-FEB4-41AA-B971-99906C12938A}"/>
              </a:ext>
            </a:extLst>
          </p:cNvPr>
          <p:cNvSpPr>
            <a:spLocks noGrp="1"/>
          </p:cNvSpPr>
          <p:nvPr/>
        </p:nvSpPr>
        <p:spPr>
          <a:xfrm>
            <a:off x="8610600" y="5143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Jest / node:test</a:t>
            </a:r>
          </a:p>
        </p:txBody>
      </p:sp>
    </p:spTree>
    <p:extLst>
      <p:ext uri="{BB962C8B-B14F-4D97-AF65-F5344CB8AC3E}">
        <p14:creationId xmlns:p14="http://schemas.microsoft.com/office/powerpoint/2010/main" val="41254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475822ED-A106-4A39-84AB-D4BAB0DE27E0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AI WORKFLOW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6AA0DED-11C7-4853-985A-A2F2FBFBF807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BF0091-F831-4721-B871-335895055294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1C1E"/>
                </a:solidFill>
              </a:defRPr>
            </a:pPr>
            <a:r>
              <a:rPr sz="2850" b="1">
                <a:solidFill>
                  <a:srgbClr val="1C1C1E"/>
                </a:solidFill>
              </a:rPr>
              <a:t>리뷰 한 건을 ‘별점’ 대신 5단계로 분류한다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AD3903-1C18-47F2-B5EC-3FE0C3CB5B3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자유로운 텍스트를 일관된 구조로 바꿔 전체 분위기를 막대그래프로 보여준다.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1A3930-68AA-4F17-80B9-FB1FD579632B}"/>
              </a:ext>
            </a:extLst>
          </p:cNvPr>
          <p:cNvSpPr>
            <a:spLocks noGrp="1"/>
          </p:cNvSpPr>
          <p:nvPr/>
        </p:nvSpPr>
        <p:spPr>
          <a:xfrm>
            <a:off x="2362200" y="2743200"/>
            <a:ext cx="28575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B75BF5DD-7298-46DF-98BE-408CD139B084}"/>
              </a:ext>
            </a:extLst>
          </p:cNvPr>
          <p:cNvSpPr>
            <a:spLocks noGrp="1"/>
          </p:cNvSpPr>
          <p:nvPr/>
        </p:nvSpPr>
        <p:spPr>
          <a:xfrm>
            <a:off x="2619375" y="267652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B52037-5917-4CE4-B4BE-434D5268D3F4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7526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F2800A-630E-499A-B6F5-E35DE0097A8D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A25A3B-E660-4045-8121-813B57E7A9B9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C1C1E"/>
                </a:solidFill>
              </a:defRPr>
            </a:pPr>
            <a:r>
              <a:rPr sz="1350" b="1">
                <a:solidFill>
                  <a:srgbClr val="1C1C1E"/>
                </a:solidFill>
              </a:rPr>
              <a:t>리뷰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D6287A0-847E-47C2-90CC-8C4D4261E5A3}"/>
              </a:ext>
            </a:extLst>
          </p:cNvPr>
          <p:cNvSpPr>
            <a:spLocks noGrp="1"/>
          </p:cNvSpPr>
          <p:nvPr/>
        </p:nvSpPr>
        <p:spPr>
          <a:xfrm>
            <a:off x="4514850" y="2743200"/>
            <a:ext cx="28575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FD1DB93D-89A9-4A02-9714-0B7334561FD8}"/>
              </a:ext>
            </a:extLst>
          </p:cNvPr>
          <p:cNvSpPr>
            <a:spLocks noGrp="1"/>
          </p:cNvSpPr>
          <p:nvPr/>
        </p:nvSpPr>
        <p:spPr>
          <a:xfrm>
            <a:off x="4772025" y="267652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1185362-4E6B-4FC7-B0DA-B60E27D9307D}"/>
              </a:ext>
            </a:extLst>
          </p:cNvPr>
          <p:cNvSpPr>
            <a:spLocks noGrp="1"/>
          </p:cNvSpPr>
          <p:nvPr/>
        </p:nvSpPr>
        <p:spPr>
          <a:xfrm>
            <a:off x="2762250" y="2286000"/>
            <a:ext cx="17526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21267F6-2FCD-4408-91A4-CA4B4E3ED676}"/>
              </a:ext>
            </a:extLst>
          </p:cNvPr>
          <p:cNvSpPr>
            <a:spLocks noGrp="1"/>
          </p:cNvSpPr>
          <p:nvPr/>
        </p:nvSpPr>
        <p:spPr>
          <a:xfrm>
            <a:off x="2762250" y="228600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B95136-3A07-41AD-B4F8-71A87CCCC905}"/>
              </a:ext>
            </a:extLst>
          </p:cNvPr>
          <p:cNvSpPr>
            <a:spLocks noGrp="1"/>
          </p:cNvSpPr>
          <p:nvPr/>
        </p:nvSpPr>
        <p:spPr>
          <a:xfrm>
            <a:off x="2876550" y="24574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C1C1E"/>
                </a:solidFill>
              </a:defRPr>
            </a:pPr>
            <a:r>
              <a:rPr sz="1350" b="1">
                <a:solidFill>
                  <a:srgbClr val="1C1C1E"/>
                </a:solidFill>
              </a:rPr>
              <a:t>서버 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E4D572-6206-457D-B9C6-C7AF1F061110}"/>
              </a:ext>
            </a:extLst>
          </p:cNvPr>
          <p:cNvSpPr>
            <a:spLocks noGrp="1"/>
          </p:cNvSpPr>
          <p:nvPr/>
        </p:nvSpPr>
        <p:spPr>
          <a:xfrm>
            <a:off x="6667500" y="2743200"/>
            <a:ext cx="28575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4AC55CC5-D4F2-4749-A656-6C16A0AC10E8}"/>
              </a:ext>
            </a:extLst>
          </p:cNvPr>
          <p:cNvSpPr>
            <a:spLocks noGrp="1"/>
          </p:cNvSpPr>
          <p:nvPr/>
        </p:nvSpPr>
        <p:spPr>
          <a:xfrm>
            <a:off x="6924675" y="267652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B25BC71-3BBE-4628-BF05-1CFFEAD5F5DC}"/>
              </a:ext>
            </a:extLst>
          </p:cNvPr>
          <p:cNvSpPr>
            <a:spLocks noGrp="1"/>
          </p:cNvSpPr>
          <p:nvPr/>
        </p:nvSpPr>
        <p:spPr>
          <a:xfrm>
            <a:off x="4914900" y="2286000"/>
            <a:ext cx="17526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1529EF0-3E3A-428C-AA22-2740020CA8E6}"/>
              </a:ext>
            </a:extLst>
          </p:cNvPr>
          <p:cNvSpPr>
            <a:spLocks noGrp="1"/>
          </p:cNvSpPr>
          <p:nvPr/>
        </p:nvSpPr>
        <p:spPr>
          <a:xfrm>
            <a:off x="4914900" y="228600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68FC9D-B845-4094-8519-7A1043E60820}"/>
              </a:ext>
            </a:extLst>
          </p:cNvPr>
          <p:cNvSpPr>
            <a:spLocks noGrp="1"/>
          </p:cNvSpPr>
          <p:nvPr/>
        </p:nvSpPr>
        <p:spPr>
          <a:xfrm>
            <a:off x="5029200" y="24574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C1C1E"/>
                </a:solidFill>
              </a:defRPr>
            </a:pPr>
            <a:r>
              <a:rPr sz="1350" b="1">
                <a:solidFill>
                  <a:srgbClr val="1C1C1E"/>
                </a:solidFill>
              </a:rPr>
              <a:t>GPT-5.6 Luna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4C62D2-50CC-45F6-B30F-9E0976B3A99A}"/>
              </a:ext>
            </a:extLst>
          </p:cNvPr>
          <p:cNvSpPr>
            <a:spLocks noGrp="1"/>
          </p:cNvSpPr>
          <p:nvPr/>
        </p:nvSpPr>
        <p:spPr>
          <a:xfrm>
            <a:off x="8820150" y="2743200"/>
            <a:ext cx="285750" cy="28575"/>
          </a:xfrm>
          <a:prstGeom prst="rect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D3BB1E83-BD47-4044-ACB1-673833981EBE}"/>
              </a:ext>
            </a:extLst>
          </p:cNvPr>
          <p:cNvSpPr>
            <a:spLocks noGrp="1"/>
          </p:cNvSpPr>
          <p:nvPr/>
        </p:nvSpPr>
        <p:spPr>
          <a:xfrm>
            <a:off x="9077325" y="2676525"/>
            <a:ext cx="142875" cy="161925"/>
          </a:xfrm>
          <a:prstGeom prst="triangle">
            <a:avLst/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E95ADC9-1B54-4769-826A-F14E910D71A7}"/>
              </a:ext>
            </a:extLst>
          </p:cNvPr>
          <p:cNvSpPr>
            <a:spLocks noGrp="1"/>
          </p:cNvSpPr>
          <p:nvPr/>
        </p:nvSpPr>
        <p:spPr>
          <a:xfrm>
            <a:off x="7067550" y="2286000"/>
            <a:ext cx="17526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9236FBB-7012-416D-B01F-1584129A1F24}"/>
              </a:ext>
            </a:extLst>
          </p:cNvPr>
          <p:cNvSpPr>
            <a:spLocks noGrp="1"/>
          </p:cNvSpPr>
          <p:nvPr/>
        </p:nvSpPr>
        <p:spPr>
          <a:xfrm>
            <a:off x="7067550" y="228600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A7F8AD-F653-46F6-9075-792D63BCD971}"/>
              </a:ext>
            </a:extLst>
          </p:cNvPr>
          <p:cNvSpPr>
            <a:spLocks noGrp="1"/>
          </p:cNvSpPr>
          <p:nvPr/>
        </p:nvSpPr>
        <p:spPr>
          <a:xfrm>
            <a:off x="7181850" y="24574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C1C1E"/>
                </a:solidFill>
              </a:defRPr>
            </a:pPr>
            <a:r>
              <a:rPr sz="1350" b="1">
                <a:solidFill>
                  <a:srgbClr val="1C1C1E"/>
                </a:solidFill>
              </a:rPr>
              <a:t>구조화 결과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635919-77BD-45CF-AD72-414601757F00}"/>
              </a:ext>
            </a:extLst>
          </p:cNvPr>
          <p:cNvSpPr>
            <a:spLocks noGrp="1"/>
          </p:cNvSpPr>
          <p:nvPr/>
        </p:nvSpPr>
        <p:spPr>
          <a:xfrm>
            <a:off x="9220200" y="2286000"/>
            <a:ext cx="17526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22B630D-EDF2-43C8-8ED2-58EBA362D437}"/>
              </a:ext>
            </a:extLst>
          </p:cNvPr>
          <p:cNvSpPr>
            <a:spLocks noGrp="1"/>
          </p:cNvSpPr>
          <p:nvPr/>
        </p:nvSpPr>
        <p:spPr>
          <a:xfrm>
            <a:off x="9220200" y="2286000"/>
            <a:ext cx="76200" cy="8763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6A64D04-81B9-4085-AA1C-3DECBF56E802}"/>
              </a:ext>
            </a:extLst>
          </p:cNvPr>
          <p:cNvSpPr>
            <a:spLocks noGrp="1"/>
          </p:cNvSpPr>
          <p:nvPr/>
        </p:nvSpPr>
        <p:spPr>
          <a:xfrm>
            <a:off x="9334500" y="245745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C1C1E"/>
                </a:solidFill>
              </a:defRPr>
            </a:pPr>
            <a:r>
              <a:rPr sz="1350" b="1">
                <a:solidFill>
                  <a:srgbClr val="1C1C1E"/>
                </a:solidFill>
              </a:rPr>
              <a:t>그래프 반영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A23A43-356D-4130-B67E-01C5235446A2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6E6E73"/>
                </a:solidFill>
              </a:defRPr>
            </a:pPr>
            <a:r>
              <a:rPr sz="1200" b="1">
                <a:solidFill>
                  <a:srgbClr val="6E6E73"/>
                </a:solidFill>
              </a:rPr>
              <a:t>응답 스키마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131FADD-B5B4-444E-BCA1-8D3B005ACCAA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447675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C9C47B7-77D1-4689-BE5E-1621D799F55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5856D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E663CA1-319F-411D-ACE2-7E645DF2ABC2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3905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label: "positive"</a:t>
            </a:r>
          </a:p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confidence: 0.91</a:t>
            </a:r>
          </a:p>
          <a:p>
            <a:pPr algn="l">
              <a:defRPr sz="1500" b="1">
                <a:solidFill>
                  <a:srgbClr val="1C1C1E"/>
                </a:solidFill>
              </a:defRPr>
            </a:pPr>
            <a:r>
              <a:rPr sz="1500" b="1">
                <a:solidFill>
                  <a:srgbClr val="1C1C1E"/>
                </a:solidFill>
              </a:rPr>
              <a:t>keywords: ["친절", "분위기"]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1E2CFF1-8822-49C8-B261-F9B65B5A550A}"/>
              </a:ext>
            </a:extLst>
          </p:cNvPr>
          <p:cNvSpPr>
            <a:spLocks noGrp="1"/>
          </p:cNvSpPr>
          <p:nvPr/>
        </p:nvSpPr>
        <p:spPr>
          <a:xfrm>
            <a:off x="5600700" y="38862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매우 좋음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186AED0-3DEA-4872-8376-9FE0E8F79E2B}"/>
              </a:ext>
            </a:extLst>
          </p:cNvPr>
          <p:cNvSpPr>
            <a:spLocks noGrp="1"/>
          </p:cNvSpPr>
          <p:nvPr/>
        </p:nvSpPr>
        <p:spPr>
          <a:xfrm>
            <a:off x="6838950" y="3933825"/>
            <a:ext cx="3680460" cy="1714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06751FF-DC24-4063-A5F1-ED24FF7AD4FF}"/>
              </a:ext>
            </a:extLst>
          </p:cNvPr>
          <p:cNvSpPr>
            <a:spLocks noGrp="1"/>
          </p:cNvSpPr>
          <p:nvPr/>
        </p:nvSpPr>
        <p:spPr>
          <a:xfrm>
            <a:off x="5600700" y="428625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좋음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ACD357D-1BE8-4B81-AB6F-A5275E46A189}"/>
              </a:ext>
            </a:extLst>
          </p:cNvPr>
          <p:cNvSpPr>
            <a:spLocks noGrp="1"/>
          </p:cNvSpPr>
          <p:nvPr/>
        </p:nvSpPr>
        <p:spPr>
          <a:xfrm>
            <a:off x="6838950" y="4333875"/>
            <a:ext cx="3040380" cy="1714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AD881A-95A3-46F1-8EA8-1A9ED2C943EB}"/>
              </a:ext>
            </a:extLst>
          </p:cNvPr>
          <p:cNvSpPr>
            <a:spLocks noGrp="1"/>
          </p:cNvSpPr>
          <p:nvPr/>
        </p:nvSpPr>
        <p:spPr>
          <a:xfrm>
            <a:off x="5600700" y="46863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보통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BD1ED26-5A8D-434C-9CD5-A3378B2DFC0B}"/>
              </a:ext>
            </a:extLst>
          </p:cNvPr>
          <p:cNvSpPr>
            <a:spLocks noGrp="1"/>
          </p:cNvSpPr>
          <p:nvPr/>
        </p:nvSpPr>
        <p:spPr>
          <a:xfrm>
            <a:off x="6838950" y="4733925"/>
            <a:ext cx="1920240" cy="171450"/>
          </a:xfrm>
          <a:prstGeom prst="roundRect">
            <a:avLst>
              <a:gd name="adj" fmla="val 50000"/>
            </a:avLst>
          </a:prstGeom>
          <a:solidFill>
            <a:srgbClr val="FF9F0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0300C6F-9BF4-46C0-84F9-8C035E7B45A8}"/>
              </a:ext>
            </a:extLst>
          </p:cNvPr>
          <p:cNvSpPr>
            <a:spLocks noGrp="1"/>
          </p:cNvSpPr>
          <p:nvPr/>
        </p:nvSpPr>
        <p:spPr>
          <a:xfrm>
            <a:off x="5600700" y="508635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아쉬움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49C7AEA-339A-49A4-8637-605FB1F6E991}"/>
              </a:ext>
            </a:extLst>
          </p:cNvPr>
          <p:cNvSpPr>
            <a:spLocks noGrp="1"/>
          </p:cNvSpPr>
          <p:nvPr/>
        </p:nvSpPr>
        <p:spPr>
          <a:xfrm>
            <a:off x="6838950" y="5133975"/>
            <a:ext cx="1120140" cy="171450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05013A9-58F3-49CD-AC61-A6DD5E6A7B8F}"/>
              </a:ext>
            </a:extLst>
          </p:cNvPr>
          <p:cNvSpPr>
            <a:spLocks noGrp="1"/>
          </p:cNvSpPr>
          <p:nvPr/>
        </p:nvSpPr>
        <p:spPr>
          <a:xfrm>
            <a:off x="5600700" y="5486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E6E73"/>
                </a:solidFill>
              </a:defRPr>
            </a:pPr>
            <a:r>
              <a:rPr sz="1125" b="1">
                <a:solidFill>
                  <a:srgbClr val="6E6E73"/>
                </a:solidFill>
              </a:rPr>
              <a:t>매우 아쉬움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0F9CB18-7341-4890-987D-AD56B2A25CE4}"/>
              </a:ext>
            </a:extLst>
          </p:cNvPr>
          <p:cNvSpPr>
            <a:spLocks noGrp="1"/>
          </p:cNvSpPr>
          <p:nvPr/>
        </p:nvSpPr>
        <p:spPr>
          <a:xfrm>
            <a:off x="6838950" y="5534025"/>
            <a:ext cx="560070" cy="171450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B84C180-7092-4D0E-A84B-1033042F07B5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76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분류 결과만 저장하는 것이 아니라 confidence와 키워드도 함께 받아 이후 설명 가능한 요약으로 확장할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038104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AB45B7-4C7F-410B-8246-0E3DE19F3B2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STATUS &amp; NEXT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964ABF-0428-4732-8435-1B28933226DF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6E6E73"/>
                </a:solidFill>
              </a:defRPr>
            </a:pPr>
            <a:r>
              <a:rPr sz="975" b="1">
                <a:solidFill>
                  <a:srgbClr val="6E6E73"/>
                </a:solidFill>
              </a:rPr>
              <a:t>11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D84BF3-F12D-40E6-AA28-BC423845D5AE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550" b="1">
                <a:solidFill>
                  <a:srgbClr val="1C1C1E"/>
                </a:solidFill>
              </a:defRPr>
            </a:pPr>
            <a:r>
              <a:rPr sz="2550" b="1">
                <a:solidFill>
                  <a:srgbClr val="1C1C1E"/>
                </a:solidFill>
              </a:rPr>
              <a:t>핵심 가설은 확인했고, 이제 ‘인증’을 실제 데이터로 닫는다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7B8273-B7ED-446A-B6F8-3DEA9A4C608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현재 데모 가능한 범위와 다음 구현 범위를 분명히 구분했다.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9094F89-A5DD-4702-AC27-9D3734FFCC5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2197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7FEC03-116B-444B-A8AC-9DF0804CD09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76200" cy="333375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F480588-9982-439C-ABB6-74BFB08782AA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E9F9E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E7C73A-B287-410A-87B9-6A38842E282E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지금 동작함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D13DE72-8F71-46E9-A1E7-5A2675C1CE23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AE0B83-1C73-497C-9E57-79E170F267B7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실제 지도·장소 검색과 자동완성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E75E261-D080-4941-936E-C1416E7613D4}"/>
              </a:ext>
            </a:extLst>
          </p:cNvPr>
          <p:cNvSpPr>
            <a:spLocks noGrp="1"/>
          </p:cNvSpPr>
          <p:nvPr/>
        </p:nvSpPr>
        <p:spPr>
          <a:xfrm>
            <a:off x="895350" y="35433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FD0A1C-FB99-4A29-97A1-A0EAE96E151E}"/>
              </a:ext>
            </a:extLst>
          </p:cNvPr>
          <p:cNvSpPr>
            <a:spLocks noGrp="1"/>
          </p:cNvSpPr>
          <p:nvPr/>
        </p:nvSpPr>
        <p:spPr>
          <a:xfrm>
            <a:off x="1085850" y="34480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로그인·세션·마이페이지 화면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7E6B3AE-A3E1-40F9-818D-0C48E964AEB1}"/>
              </a:ext>
            </a:extLst>
          </p:cNvPr>
          <p:cNvSpPr>
            <a:spLocks noGrp="1"/>
          </p:cNvSpPr>
          <p:nvPr/>
        </p:nvSpPr>
        <p:spPr>
          <a:xfrm>
            <a:off x="895350" y="40386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842AE6-8A2A-4540-94D9-0AE0D03A11D1}"/>
              </a:ext>
            </a:extLst>
          </p:cNvPr>
          <p:cNvSpPr>
            <a:spLocks noGrp="1"/>
          </p:cNvSpPr>
          <p:nvPr/>
        </p:nvSpPr>
        <p:spPr>
          <a:xfrm>
            <a:off x="1085850" y="39433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텍스트 리뷰 AI 5단계 분석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F903A54-7A52-408F-AD1C-5AB59E0A7593}"/>
              </a:ext>
            </a:extLst>
          </p:cNvPr>
          <p:cNvSpPr>
            <a:spLocks noGrp="1"/>
          </p:cNvSpPr>
          <p:nvPr/>
        </p:nvSpPr>
        <p:spPr>
          <a:xfrm>
            <a:off x="895350" y="45339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15AB94-FE54-4EF2-AFB6-43E8B248DCF5}"/>
              </a:ext>
            </a:extLst>
          </p:cNvPr>
          <p:cNvSpPr>
            <a:spLocks noGrp="1"/>
          </p:cNvSpPr>
          <p:nvPr/>
        </p:nvSpPr>
        <p:spPr>
          <a:xfrm>
            <a:off x="1085850" y="44386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PC·모바일 반응형 UI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C8D95CE-B6AF-4ECA-ABF9-85D357EFE23B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663039-8FC2-4965-87F0-B9AC78E33238}"/>
              </a:ext>
            </a:extLst>
          </p:cNvPr>
          <p:cNvSpPr>
            <a:spLocks noGrp="1"/>
          </p:cNvSpPr>
          <p:nvPr/>
        </p:nvSpPr>
        <p:spPr>
          <a:xfrm>
            <a:off x="1085850" y="49339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프론트·서버 자동 테스트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BFE195-1D30-4E42-848C-2480D0366B20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54864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3C56DF9-C49A-49F7-87CD-B38E6482D8C7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76200" cy="33337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FCF7DE-2D08-4674-94E0-22460F23ECF7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70B8115-2758-460A-B552-20A873185062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07AFF"/>
                </a:solidFill>
              </a:defRPr>
            </a:pPr>
            <a:r>
              <a:rPr sz="1050" b="1">
                <a:solidFill>
                  <a:srgbClr val="007AFF"/>
                </a:solidFill>
              </a:rPr>
              <a:t>다음 구현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24ED295-DAF6-4F44-BAE3-B0A4C858F734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9F475A1-3C03-4991-A251-F69ACC84FCA4}"/>
              </a:ext>
            </a:extLst>
          </p:cNvPr>
          <p:cNvSpPr>
            <a:spLocks noGrp="1"/>
          </p:cNvSpPr>
          <p:nvPr/>
        </p:nvSpPr>
        <p:spPr>
          <a:xfrm>
            <a:off x="6572250" y="29527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영수증 이미지 Supabase Storage 저장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954055F-23FE-4909-8DDA-63427E3CA4C9}"/>
              </a:ext>
            </a:extLst>
          </p:cNvPr>
          <p:cNvSpPr>
            <a:spLocks noGrp="1"/>
          </p:cNvSpPr>
          <p:nvPr/>
        </p:nvSpPr>
        <p:spPr>
          <a:xfrm>
            <a:off x="6381750" y="35433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A08FD5-FC68-4768-9947-74CE347EBF54}"/>
              </a:ext>
            </a:extLst>
          </p:cNvPr>
          <p:cNvSpPr>
            <a:spLocks noGrp="1"/>
          </p:cNvSpPr>
          <p:nvPr/>
        </p:nvSpPr>
        <p:spPr>
          <a:xfrm>
            <a:off x="6572250" y="34480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CLOVA OCR로 상호명·결제일 검증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47BE06A-A1DE-481F-9C86-0095F0F7ED81}"/>
              </a:ext>
            </a:extLst>
          </p:cNvPr>
          <p:cNvSpPr>
            <a:spLocks noGrp="1"/>
          </p:cNvSpPr>
          <p:nvPr/>
        </p:nvSpPr>
        <p:spPr>
          <a:xfrm>
            <a:off x="6381750" y="40386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A46D17-5094-4FA4-B34B-86D67CF9BB76}"/>
              </a:ext>
            </a:extLst>
          </p:cNvPr>
          <p:cNvSpPr>
            <a:spLocks noGrp="1"/>
          </p:cNvSpPr>
          <p:nvPr/>
        </p:nvSpPr>
        <p:spPr>
          <a:xfrm>
            <a:off x="6572250" y="39433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인증 통과 리뷰만 DB에 최종 저장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02DD4B8-F6CD-43CA-8146-47E14BCD58A2}"/>
              </a:ext>
            </a:extLst>
          </p:cNvPr>
          <p:cNvSpPr>
            <a:spLocks noGrp="1"/>
          </p:cNvSpPr>
          <p:nvPr/>
        </p:nvSpPr>
        <p:spPr>
          <a:xfrm>
            <a:off x="6381750" y="45339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B44DE5-0489-4151-9726-555D33BC0B8C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이미지 해시·승인번호 중복 차단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16690CA-CBB1-48A8-A9AA-422616E5EC5B}"/>
              </a:ext>
            </a:extLst>
          </p:cNvPr>
          <p:cNvSpPr>
            <a:spLocks noGrp="1"/>
          </p:cNvSpPr>
          <p:nvPr/>
        </p:nvSpPr>
        <p:spPr>
          <a:xfrm>
            <a:off x="6381750" y="5029200"/>
            <a:ext cx="76200" cy="76200"/>
          </a:xfrm>
          <a:prstGeom prst="ellipse">
            <a:avLst/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124C46-6F3C-457D-9028-155239DA6FD7}"/>
              </a:ext>
            </a:extLst>
          </p:cNvPr>
          <p:cNvSpPr>
            <a:spLocks noGrp="1"/>
          </p:cNvSpPr>
          <p:nvPr/>
        </p:nvSpPr>
        <p:spPr>
          <a:xfrm>
            <a:off x="6572250" y="49339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C1C1E"/>
                </a:solidFill>
              </a:defRPr>
            </a:pPr>
            <a:r>
              <a:rPr sz="1350" b="0">
                <a:solidFill>
                  <a:srgbClr val="1C1C1E"/>
                </a:solidFill>
              </a:rPr>
              <a:t>실데이터 집계·배포 환경 검증</a:t>
            </a:r>
          </a:p>
        </p:txBody>
      </p:sp>
    </p:spTree>
    <p:extLst>
      <p:ext uri="{BB962C8B-B14F-4D97-AF65-F5344CB8AC3E}">
        <p14:creationId xmlns:p14="http://schemas.microsoft.com/office/powerpoint/2010/main" val="46252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C72318-7601-4120-9E16-198577753EFE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9B5CD"/>
                </a:solidFill>
              </a:defRPr>
            </a:pPr>
            <a:r>
              <a:rPr sz="975" b="1">
                <a:solidFill>
                  <a:srgbClr val="A9B5CD"/>
                </a:solidFill>
              </a:rPr>
              <a:t>CLOSING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0F3A12-ACFB-4177-93DE-2EFAF9E5E070}"/>
              </a:ext>
            </a:extLst>
          </p:cNvPr>
          <p:cNvSpPr>
            <a:spLocks noGrp="1"/>
          </p:cNvSpPr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A9B5CD"/>
                </a:solidFill>
              </a:defRPr>
            </a:pPr>
            <a:r>
              <a:rPr sz="975" b="1">
                <a:solidFill>
                  <a:srgbClr val="A9B5CD"/>
                </a:solidFill>
              </a:rPr>
              <a:t>12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D3D63FC-1261-4E51-9368-AFEDDBCAB9E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85850" cy="323850"/>
          </a:xfrm>
          <a:prstGeom prst="roundRect">
            <a:avLst>
              <a:gd name="adj" fmla="val 50000"/>
            </a:avLst>
          </a:prstGeom>
          <a:solidFill>
            <a:srgbClr val="173B2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98874E-1B48-4ECB-A6F1-76D52105F47D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03C75A"/>
                </a:solidFill>
              </a:defRPr>
            </a:pPr>
            <a:r>
              <a:rPr sz="1050" b="1">
                <a:solidFill>
                  <a:srgbClr val="03C75A"/>
                </a:solidFill>
              </a:rPr>
              <a:t>TAKEAWAY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4B17044-10C6-47D3-B988-2D81F498F17D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819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지금리뷰는 리뷰의 양보다</a:t>
            </a:r>
          </a:p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방문 근거와 해석을 먼저 보여준다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D45746-A5B8-40A1-8F95-D2A05CEB85D1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857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A9B5CD"/>
                </a:solidFill>
              </a:defRPr>
            </a:pPr>
            <a:r>
              <a:rPr sz="1500" b="0">
                <a:solidFill>
                  <a:srgbClr val="A9B5CD"/>
                </a:solidFill>
              </a:rPr>
              <a:t>3주 동안 기획 문서에서 출발해 지도 탐색, 사용자 흐름, 데이터 구조, AI 분석까지 이어지는 MVP를 만들었다.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B899A8D-BF7F-4080-AD09-3423A8F24596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57275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A8AFCB7-2126-4C85-8EC4-F22B51BE9CE3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03C7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D0C9D9-C251-43B7-9331-E5DBAE2E3515}"/>
              </a:ext>
            </a:extLst>
          </p:cNvPr>
          <p:cNvSpPr>
            <a:spLocks noGrp="1"/>
          </p:cNvSpPr>
          <p:nvPr/>
        </p:nvSpPr>
        <p:spPr>
          <a:xfrm>
            <a:off x="876300" y="5048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3C75A"/>
                </a:solidFill>
              </a:defRPr>
            </a:pPr>
            <a:r>
              <a:rPr sz="1200" b="1">
                <a:solidFill>
                  <a:srgbClr val="03C75A"/>
                </a:solidFill>
              </a:rPr>
              <a:t>피드백 받고 싶은 것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E23D71-4A98-4A3B-985A-5D839F5A3FF5}"/>
              </a:ext>
            </a:extLst>
          </p:cNvPr>
          <p:cNvSpPr>
            <a:spLocks noGrp="1"/>
          </p:cNvSpPr>
          <p:nvPr/>
        </p:nvSpPr>
        <p:spPr>
          <a:xfrm>
            <a:off x="876300" y="5372100"/>
            <a:ext cx="981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C1C1E"/>
                </a:solidFill>
              </a:defRPr>
            </a:pPr>
            <a:r>
              <a:rPr sz="1350" b="1">
                <a:solidFill>
                  <a:srgbClr val="1C1C1E"/>
                </a:solidFill>
              </a:rPr>
              <a:t>① 5단계 표현이 직관적인가?   ② 인증 리뷰를 어디에서 가장 강조해야 하는가?   ③ 실제 사용 시 빠진 판단 정보는 무엇인가?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F38498-FD62-45DF-8EC2-6B490C587571}"/>
              </a:ext>
            </a:extLst>
          </p:cNvPr>
          <p:cNvSpPr>
            <a:spLocks noGrp="1"/>
          </p:cNvSpPr>
          <p:nvPr/>
        </p:nvSpPr>
        <p:spPr>
          <a:xfrm>
            <a:off x="9810750" y="62293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7F8CA7"/>
                </a:solidFill>
              </a:defRPr>
            </a:pPr>
            <a:r>
              <a:rPr sz="1050" b="1">
                <a:solidFill>
                  <a:srgbClr val="7F8CA7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7036687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</Words>
  <Application>Microsoft Office PowerPoint</Application>
  <DocSecurity>0</DocSecurity>
  <PresentationFormat>와이드스크린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조정민</cp:lastModifiedBy>
  <cp:revision>1</cp:revision>
  <dcterms:created xsi:type="dcterms:W3CDTF">2026-07-24T04:41:22Z</dcterms:created>
  <dcterms:modified xsi:type="dcterms:W3CDTF">2026-07-24T04:48:25Z</dcterms:modified>
</cp:coreProperties>
</file>